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ARQUITECTURA DE DATOS E 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Diagnóstico y Tuning de Bases de Datos Asistido por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4A3B8"/>
                </a:solidFill>
                <a:latin typeface="Segoe UI"/>
              </a:defRPr>
            </a:pPr>
            <a:r>
              <a:t>Integración con OpenMetadata y operación bajo un modelo MSP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5351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Pregunta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¿Cómo convertir señales de PostgreSQL en recomendaciones explicables, seguras y operables?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01 ·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Del tuning reactivo al diagnóstico asistido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Enfoque tradicional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Reacción: </a:t>
            </a:r>
            <a:r>
              <a:rPr b="0" sz="1200">
                <a:solidFill>
                  <a:srgbClr val="94A3B8"/>
                </a:solidFill>
                <a:latin typeface="Segoe UI"/>
              </a:rPr>
              <a:t>El análisis suele empezar después de una alerta o queja de latencia.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Correlación manual: </a:t>
            </a:r>
            <a:r>
              <a:rPr b="0" sz="1200">
                <a:solidFill>
                  <a:srgbClr val="94A3B8"/>
                </a:solidFill>
                <a:latin typeface="Segoe UI"/>
              </a:rPr>
              <a:t>Logs, planes y métricas viven en herramientas diferentes.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Costo: </a:t>
            </a:r>
            <a:r>
              <a:rPr b="0" sz="1200">
                <a:solidFill>
                  <a:srgbClr val="94A3B8"/>
                </a:solidFill>
                <a:latin typeface="Segoe UI"/>
              </a:rPr>
              <a:t>El DBA invierte tiempo en localizar y reproducir el problema.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Riesgo: </a:t>
            </a:r>
            <a:r>
              <a:rPr b="0" sz="1200">
                <a:solidFill>
                  <a:srgbClr val="94A3B8"/>
                </a:solidFill>
                <a:latin typeface="Segoe UI"/>
              </a:rPr>
              <a:t>La degradación continúa mientras se recopila evidencia.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IA como asistente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Prioriza: </a:t>
            </a:r>
            <a:r>
              <a:rPr b="0" sz="1200">
                <a:solidFill>
                  <a:srgbClr val="94A3B8"/>
                </a:solidFill>
                <a:latin typeface="Segoe UI"/>
              </a:rPr>
              <a:t>Agrupa consultas y ordena anomalías por impacto probable.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Correlaciona: </a:t>
            </a:r>
            <a:r>
              <a:rPr b="0" sz="1200">
                <a:solidFill>
                  <a:srgbClr val="94A3B8"/>
                </a:solidFill>
                <a:latin typeface="Segoe UI"/>
              </a:rPr>
              <a:t>Relaciona SQL, plan, métricas y cambios en el tiempo.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Anticipa: </a:t>
            </a:r>
            <a:r>
              <a:rPr b="0" sz="1200">
                <a:solidFill>
                  <a:srgbClr val="94A3B8"/>
                </a:solidFill>
                <a:latin typeface="Segoe UI"/>
              </a:rPr>
              <a:t>Usa históricos para detectar tendencias y regresiones.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No reemplaza: </a:t>
            </a:r>
            <a:r>
              <a:rPr b="0" sz="1200">
                <a:solidFill>
                  <a:srgbClr val="94A3B8"/>
                </a:solidFill>
                <a:latin typeface="Segoe UI"/>
              </a:rPr>
              <a:t>El DBA valida causa, riesgo y acción antes del cambio.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02 · EVIDENCIA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¿Qué señales puede analizar sin conocer la BD?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Telemetría de entrada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Slow Query Logs: </a:t>
            </a:r>
            <a:r>
              <a:rPr b="0" sz="1200">
                <a:solidFill>
                  <a:srgbClr val="94A3B8"/>
                </a:solidFill>
                <a:latin typeface="Segoe UI"/>
              </a:rPr>
              <a:t>Frecuencia, duración y patrones de SQL normalizado.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Execution Plans: </a:t>
            </a:r>
            <a:r>
              <a:rPr b="0" sz="1200">
                <a:solidFill>
                  <a:srgbClr val="94A3B8"/>
                </a:solidFill>
                <a:latin typeface="Segoe UI"/>
              </a:rPr>
              <a:t>EXPLAIN ANALYZE muestra nodos, filas y tiempos observados.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Buffers: </a:t>
            </a:r>
            <a:r>
              <a:rPr b="0" sz="1200">
                <a:solidFill>
                  <a:srgbClr val="94A3B8"/>
                </a:solidFill>
                <a:latin typeface="Segoe UI"/>
              </a:rPr>
              <a:t>Distingue páginas en caché de bloques leídos durante el plan.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Wait events: </a:t>
            </a:r>
            <a:r>
              <a:rPr b="0" sz="1200">
                <a:solidFill>
                  <a:srgbClr val="94A3B8"/>
                </a:solidFill>
                <a:latin typeface="Segoe UI"/>
              </a:rPr>
              <a:t>Ayudan a separar espera por I/O, locks, CPU u otros recursos.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Inferencias y límites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Profiling: </a:t>
            </a:r>
            <a:r>
              <a:rPr b="0" sz="1200">
                <a:solidFill>
                  <a:srgbClr val="94A3B8"/>
                </a:solidFill>
                <a:latin typeface="Segoe UI"/>
              </a:rPr>
              <a:t>pg_stat_statements prioriza consultas por costo y frecuencia.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Índices: </a:t>
            </a:r>
            <a:r>
              <a:rPr b="0" sz="1200">
                <a:solidFill>
                  <a:srgbClr val="94A3B8"/>
                </a:solidFill>
                <a:latin typeface="Segoe UI"/>
              </a:rPr>
              <a:t>Un filtro selectivo sin índice puede sugerir un candidato.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Contexto necesario: </a:t>
            </a:r>
            <a:r>
              <a:rPr b="0" sz="1200">
                <a:solidFill>
                  <a:srgbClr val="94A3B8"/>
                </a:solidFill>
                <a:latin typeface="Segoe UI"/>
              </a:rPr>
              <a:t>Esquema, cardinalidad y estadísticas mejoran la hipótesis.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Límite: </a:t>
            </a:r>
            <a:r>
              <a:rPr b="0" sz="1200">
                <a:solidFill>
                  <a:srgbClr val="94A3B8"/>
                </a:solidFill>
                <a:latin typeface="Segoe UI"/>
              </a:rPr>
              <a:t>La IA no infiere semántica ni distribución que no se le entregue.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03 · CATÁLOGO Y GOBIERNO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OpenMetadata: contexto, no motor de tuning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Lo que SÍ aporta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Catálogo: </a:t>
            </a:r>
            <a:r>
              <a:rPr b="0" sz="1200">
                <a:solidFill>
                  <a:srgbClr val="94A3B8"/>
                </a:solidFill>
                <a:latin typeface="Segoe UI"/>
              </a:rPr>
              <a:t>Inventario de bases, esquemas, tablas y columnas.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Linaje: </a:t>
            </a:r>
            <a:r>
              <a:rPr b="0" sz="1200">
                <a:solidFill>
                  <a:srgbClr val="94A3B8"/>
                </a:solidFill>
                <a:latin typeface="Segoe UI"/>
              </a:rPr>
              <a:t>Relaciones entre fuentes, tablas, pipelines y consumidores.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Gobierno: </a:t>
            </a:r>
            <a:r>
              <a:rPr b="0" sz="1200">
                <a:solidFill>
                  <a:srgbClr val="94A3B8"/>
                </a:solidFill>
                <a:latin typeface="Segoe UI"/>
              </a:rPr>
              <a:t>Propiedad, clasificación, descripciones y trazabilidad.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Contexto para IA: </a:t>
            </a:r>
            <a:r>
              <a:rPr b="0" sz="1200">
                <a:solidFill>
                  <a:srgbClr val="94A3B8"/>
                </a:solidFill>
                <a:latin typeface="Segoe UI"/>
              </a:rPr>
              <a:t>El agente consulta columnas, descripción y tags por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Lo que NO hace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No ejecuta consultas: </a:t>
            </a:r>
            <a:r>
              <a:rPr b="0" sz="1200">
                <a:solidFill>
                  <a:srgbClr val="94A3B8"/>
                </a:solidFill>
                <a:latin typeface="Segoe UI"/>
              </a:rPr>
              <a:t>PostgreSQL sigue planificando y ejecutando SQL.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No es observabilidad: </a:t>
            </a:r>
            <a:r>
              <a:rPr b="0" sz="1200">
                <a:solidFill>
                  <a:srgbClr val="94A3B8"/>
                </a:solidFill>
                <a:latin typeface="Segoe UI"/>
              </a:rPr>
              <a:t>No sustituye logs, EXPLAIN ni métricas de runtime.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No crea índices: </a:t>
            </a:r>
            <a:r>
              <a:rPr b="0" sz="1200">
                <a:solidFill>
                  <a:srgbClr val="94A3B8"/>
                </a:solidFill>
                <a:latin typeface="Segoe UI"/>
              </a:rPr>
              <a:t>No decide si el costo de escritura es aceptable.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Estado del laboratorio: </a:t>
            </a:r>
            <a:r>
              <a:rPr b="0" sz="1200">
                <a:solidFill>
                  <a:srgbClr val="94A3B8"/>
                </a:solidFill>
                <a:latin typeface="Segoe UI"/>
              </a:rPr>
              <a:t>OpenMetadata 2.0.3 + ingesta PostgreSQL en Compose separado.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04 ·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Stack local con catálogo y diagnóstico integrado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Servicios desplegables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PostgreSQL 16: </a:t>
            </a:r>
            <a:r>
              <a:rPr b="0" sz="1200">
                <a:solidFill>
                  <a:srgbClr val="94A3B8"/>
                </a:solidFill>
                <a:latin typeface="Segoe UI"/>
              </a:rPr>
              <a:t>Esquema sintético y extensión pg_stat_statements.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Promtail: </a:t>
            </a:r>
            <a:r>
              <a:rPr b="0" sz="1200">
                <a:solidFill>
                  <a:srgbClr val="94A3B8"/>
                </a:solidFill>
                <a:latin typeface="Segoe UI"/>
              </a:rPr>
              <a:t>Lee los logs del contenedor en modo solo lectura.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Loki + Grafana: </a:t>
            </a:r>
            <a:r>
              <a:rPr b="0" sz="1200">
                <a:solidFill>
                  <a:srgbClr val="94A3B8"/>
                </a:solidFill>
                <a:latin typeface="Segoe UI"/>
              </a:rPr>
              <a:t>Centralizan y muestran eventos consultables.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OpenMetadata: </a:t>
            </a:r>
            <a:r>
              <a:rPr b="0" sz="1200">
                <a:solidFill>
                  <a:srgbClr val="94A3B8"/>
                </a:solidFill>
                <a:latin typeface="Segoe UI"/>
              </a:rPr>
              <a:t>Ingiere y cataloga el esquema PostgreSQL.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Diagnóstico y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1. Evidencia: </a:t>
            </a:r>
            <a:r>
              <a:rPr b="0" sz="1200">
                <a:solidFill>
                  <a:srgbClr val="94A3B8"/>
                </a:solidFill>
                <a:latin typeface="Segoe UI"/>
              </a:rPr>
              <a:t>El agente obtiene plan real con EXPLAIN JSON.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2. Contexto: </a:t>
            </a:r>
            <a:r>
              <a:rPr b="0" sz="1200">
                <a:solidFill>
                  <a:srgbClr val="94A3B8"/>
                </a:solidFill>
                <a:latin typeface="Segoe UI"/>
              </a:rPr>
              <a:t>Consulta FQN, columnas, descripción y tags por API.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3. Análisis: </a:t>
            </a:r>
            <a:r>
              <a:rPr b="0" sz="1200">
                <a:solidFill>
                  <a:srgbClr val="94A3B8"/>
                </a:solidFill>
                <a:latin typeface="Segoe UI"/>
              </a:rPr>
              <a:t>Ollama/OpenAI devuelve una hipótesis contrastable.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4. Gobierno: </a:t>
            </a:r>
            <a:r>
              <a:rPr b="0" sz="1200">
                <a:solidFill>
                  <a:srgbClr val="94A3B8"/>
                </a:solidFill>
                <a:latin typeface="Segoe UI"/>
              </a:rPr>
              <a:t>DBA/MSP aprueba, prueba y mide el índice.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05 · SERVICIO GESTIONADO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Operación de base de datos bajo un modelo MSP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Operación 24/7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Cobertura: </a:t>
            </a:r>
            <a:r>
              <a:rPr b="0" sz="1100">
                <a:solidFill>
                  <a:srgbClr val="94A3B8"/>
                </a:solidFill>
                <a:latin typeface="Segoe UI"/>
              </a:rPr>
              <a:t>Monitoreo, guardias y escalamiento por severidad.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Continuidad: </a:t>
            </a:r>
            <a:r>
              <a:rPr b="0" sz="1100">
                <a:solidFill>
                  <a:srgbClr val="94A3B8"/>
                </a:solidFill>
                <a:latin typeface="Segoe UI"/>
              </a:rPr>
              <a:t>Backups, restauración, capacidad y parchado.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Tuning: </a:t>
            </a:r>
            <a:r>
              <a:rPr b="0" sz="1100">
                <a:solidFill>
                  <a:srgbClr val="94A3B8"/>
                </a:solidFill>
                <a:latin typeface="Segoe UI"/>
              </a:rPr>
              <a:t>Revisión de latencia y cambios de forma continua.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733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Acuerdos medibles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SLA: </a:t>
            </a:r>
            <a:r>
              <a:rPr b="0" sz="1100">
                <a:solidFill>
                  <a:srgbClr val="94A3B8"/>
                </a:solidFill>
                <a:latin typeface="Segoe UI"/>
              </a:rPr>
              <a:t>Compromiso contractual acordado con el cliente.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SLO: </a:t>
            </a:r>
            <a:r>
              <a:rPr b="0" sz="1100">
                <a:solidFill>
                  <a:srgbClr val="94A3B8"/>
                </a:solidFill>
                <a:latin typeface="Segoe UI"/>
              </a:rPr>
              <a:t>Objetivo operativo medible del servicio.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SLI: </a:t>
            </a:r>
            <a:r>
              <a:rPr b="0" sz="1100">
                <a:solidFill>
                  <a:srgbClr val="94A3B8"/>
                </a:solidFill>
                <a:latin typeface="Segoe UI"/>
              </a:rPr>
              <a:t>Indicador observado, por ejemplo disponibilidad.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733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Control de cambios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57400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IA: </a:t>
            </a:r>
            <a:r>
              <a:rPr b="0" sz="1100">
                <a:solidFill>
                  <a:srgbClr val="94A3B8"/>
                </a:solidFill>
                <a:latin typeface="Segoe UI"/>
              </a:rPr>
              <a:t>Clasifica y prepara diagnóstico con evidencia.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MSP/DBA: </a:t>
            </a:r>
            <a:r>
              <a:rPr b="0" sz="1100">
                <a:solidFill>
                  <a:srgbClr val="94A3B8"/>
                </a:solidFill>
                <a:latin typeface="Segoe UI"/>
              </a:rPr>
              <a:t>Valida impacto, ventana, aprobación y rollback.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Cliente: </a:t>
            </a:r>
            <a:r>
              <a:rPr b="0" sz="1100">
                <a:solidFill>
                  <a:srgbClr val="94A3B8"/>
                </a:solidFill>
                <a:latin typeface="Segoe UI"/>
              </a:rPr>
              <a:t>Define criticidad, políticas y aceptación de riesgo.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06 · LABORATORIO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Caso reproducible sobre PostgreSQL del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Línea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Entorno: </a:t>
            </a:r>
            <a:r>
              <a:rPr b="0" sz="1200">
                <a:solidFill>
                  <a:srgbClr val="94A3B8"/>
                </a:solidFill>
                <a:latin typeface="Segoe UI"/>
              </a:rPr>
              <a:t>Docker Compose; PostgreSQL 16 y datos sintéticos existentes.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Tabla: </a:t>
            </a:r>
            <a:r>
              <a:rPr b="0" sz="1200">
                <a:solidFill>
                  <a:srgbClr val="94A3B8"/>
                </a:solidFill>
                <a:latin typeface="Segoe UI"/>
              </a:rPr>
              <a:t>transacciones, con cientos de miles de filas en volumen inicial.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Consulta: </a:t>
            </a:r>
            <a:r>
              <a:rPr b="0" sz="1200">
                <a:solidFill>
                  <a:srgbClr val="94A3B8"/>
                </a:solidFill>
                <a:latin typeface="Segoe UI"/>
              </a:rPr>
              <a:t>Historial de una cuenta con filtro temporal, orden y límite.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Medición: </a:t>
            </a:r>
            <a:r>
              <a:rPr b="0" sz="1200">
                <a:solidFill>
                  <a:srgbClr val="94A3B8"/>
                </a:solidFill>
                <a:latin typeface="Segoe UI"/>
              </a:rPr>
              <a:t>EXPLAIN (ANALYZE, BUFFERS, FORMAT JSON).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Consulta del experimento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Filtro: </a:t>
            </a:r>
            <a:r>
              <a:rPr b="0" sz="1200">
                <a:solidFill>
                  <a:srgbClr val="94A3B8"/>
                </a:solidFill>
                <a:latin typeface="Segoe UI"/>
              </a:rPr>
              <a:t>cuenta_id = 1520 y fecha_hora desde 2024-01-01.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Problema buscado: </a:t>
            </a:r>
            <a:r>
              <a:rPr b="0" sz="1200">
                <a:solidFill>
                  <a:srgbClr val="94A3B8"/>
                </a:solidFill>
                <a:latin typeface="Segoe UI"/>
              </a:rPr>
              <a:t>Recorrido amplio y trabajo de ordenamiento.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Salida al agente: </a:t>
            </a:r>
            <a:r>
              <a:rPr b="0" sz="1200">
                <a:solidFill>
                  <a:srgbClr val="94A3B8"/>
                </a:solidFill>
                <a:latin typeface="Segoe UI"/>
              </a:rPr>
              <a:t>Plan JSON y columnas leídas desde information_schema.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Cautela: </a:t>
            </a:r>
            <a:r>
              <a:rPr b="0" sz="1200">
                <a:solidFill>
                  <a:srgbClr val="94A3B8"/>
                </a:solidFill>
                <a:latin typeface="Segoe UI"/>
              </a:rPr>
              <a:t>ANALYZE ejecuta la consulta; no usar a ciegas en producción.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07 · RECOMENDACIÓN Y VERIFICACIÓN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Del diagnóstico a una mejora medida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Agente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Entrada: </a:t>
            </a:r>
            <a:r>
              <a:rPr b="0" sz="1200">
                <a:solidFill>
                  <a:srgbClr val="94A3B8"/>
                </a:solidFill>
                <a:latin typeface="Segoe UI"/>
              </a:rPr>
              <a:t>SQL, plan observado y columnas reales de la tabla.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Diagnóstico: </a:t>
            </a:r>
            <a:r>
              <a:rPr b="0" sz="1200">
                <a:solidFill>
                  <a:srgbClr val="94A3B8"/>
                </a:solidFill>
                <a:latin typeface="Segoe UI"/>
              </a:rPr>
              <a:t>Explica el cuello con evidencia, no solo con intuición.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DDL candidato: </a:t>
            </a:r>
            <a:r>
              <a:rPr b="0" sz="1200">
                <a:solidFill>
                  <a:srgbClr val="94A3B8"/>
                </a:solidFill>
                <a:latin typeface="Segoe UI"/>
              </a:rPr>
              <a:t>CREATE INDEX ON transacciones (cuenta_id, fecha_hora DESC).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Reescritura: </a:t>
            </a:r>
            <a:r>
              <a:rPr b="0" sz="1200">
                <a:solidFill>
                  <a:srgbClr val="94A3B8"/>
                </a:solidFill>
                <a:latin typeface="Segoe UI"/>
              </a:rPr>
              <a:t>Propone alternativas solo si preservan el resultado.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Validación humana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Comparar: </a:t>
            </a:r>
            <a:r>
              <a:rPr b="0" sz="1200">
                <a:solidFill>
                  <a:srgbClr val="94A3B8"/>
                </a:solidFill>
                <a:latin typeface="Segoe UI"/>
              </a:rPr>
              <a:t>Nodos del plan, filas, buffers y mediana de ejecución.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Revisar costo: </a:t>
            </a:r>
            <a:r>
              <a:rPr b="0" sz="1200">
                <a:solidFill>
                  <a:srgbClr val="94A3B8"/>
                </a:solidFill>
                <a:latin typeface="Segoe UI"/>
              </a:rPr>
              <a:t>Espacio, escritura adicional, mantenimiento y bloqueos.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Aplicar: </a:t>
            </a:r>
            <a:r>
              <a:rPr b="0" sz="1200">
                <a:solidFill>
                  <a:srgbClr val="94A3B8"/>
                </a:solidFill>
                <a:latin typeface="Segoe UI"/>
              </a:rPr>
              <a:t>El lab ejecuta un DDL fijo; nunca SQL libre de la IA.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Operar: </a:t>
            </a:r>
            <a:r>
              <a:rPr b="0" sz="1200">
                <a:solidFill>
                  <a:srgbClr val="94A3B8"/>
                </a:solidFill>
                <a:latin typeface="Segoe UI"/>
              </a:rPr>
              <a:t>Desplegar con aprobación, monitorizar y tener rollback.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08 · 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Secuencia de exposición: evidencia, recomendación,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Medir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Comando: </a:t>
            </a:r>
            <a:r>
              <a:rPr b="0" sz="1100">
                <a:solidFill>
                  <a:srgbClr val="94A3B8"/>
                </a:solidFill>
                <a:latin typeface="Segoe UI"/>
              </a:rPr>
              <a:t>docker compose up -d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Después: </a:t>
            </a:r>
            <a:r>
              <a:rPr b="0" sz="1100">
                <a:solidFill>
                  <a:srgbClr val="94A3B8"/>
                </a:solidFill>
                <a:latin typeface="Segoe UI"/>
              </a:rPr>
              <a:t>py .\scripts\ai_db_tuning.py --use-openmetadata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Mostrar: </a:t>
            </a:r>
            <a:r>
              <a:rPr b="0" sz="1100">
                <a:solidFill>
                  <a:srgbClr val="94A3B8"/>
                </a:solidFill>
                <a:latin typeface="Segoe UI"/>
              </a:rPr>
              <a:t>Plan inicial, scan, buffers y estimaciones.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733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Analizar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Modelo: </a:t>
            </a:r>
            <a:r>
              <a:rPr b="0" sz="1100">
                <a:solidFill>
                  <a:srgbClr val="94A3B8"/>
                </a:solidFill>
                <a:latin typeface="Segoe UI"/>
              </a:rPr>
              <a:t>Ollama local o OpenAI API configurado.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Explicar: </a:t>
            </a:r>
            <a:r>
              <a:rPr b="0" sz="1100">
                <a:solidFill>
                  <a:srgbClr val="94A3B8"/>
                </a:solidFill>
                <a:latin typeface="Segoe UI"/>
              </a:rPr>
              <a:t>La IA recibe evidencia y esquema, no magia.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Gobernar: </a:t>
            </a:r>
            <a:r>
              <a:rPr b="0" sz="1100">
                <a:solidFill>
                  <a:srgbClr val="94A3B8"/>
                </a:solidFill>
                <a:latin typeface="Segoe UI"/>
              </a:rPr>
              <a:t>Se inspecciona recomendación antes de cambiar.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733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Verificar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57400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Comando: </a:t>
            </a:r>
            <a:r>
              <a:rPr b="0" sz="1100">
                <a:solidFill>
                  <a:srgbClr val="94A3B8"/>
                </a:solidFill>
                <a:latin typeface="Segoe UI"/>
              </a:rPr>
              <a:t>py .\scripts\ai_db_tuning.py --use-openmetadata --apply-demo-index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Contrastar: </a:t>
            </a:r>
            <a:r>
              <a:rPr b="0" sz="1100">
                <a:solidFill>
                  <a:srgbClr val="94A3B8"/>
                </a:solidFill>
                <a:latin typeface="Segoe UI"/>
              </a:rPr>
              <a:t>Plan posterior, buffers y tiempo mediano.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1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100">
                <a:solidFill>
                  <a:srgbClr val="E2E8F0"/>
                </a:solidFill>
                <a:latin typeface="Segoe UI"/>
              </a:rPr>
              <a:t>Cerrar: </a:t>
            </a:r>
            <a:r>
              <a:rPr b="0" sz="1100">
                <a:solidFill>
                  <a:srgbClr val="94A3B8"/>
                </a:solidFill>
                <a:latin typeface="Segoe UI"/>
              </a:rPr>
              <a:t>MSP formaliza aprobación, SLO y aprendizaje.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La IA acelera el diagnóstico; la responsabilidad sigue siendo humana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6984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Tres ideas para llevar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6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600">
                <a:solidFill>
                  <a:srgbClr val="E2E8F0"/>
                </a:solidFill>
                <a:latin typeface="Segoe UI"/>
              </a:rPr>
              <a:t>Evidencia primero: </a:t>
            </a:r>
            <a:r>
              <a:rPr b="0" sz="1600">
                <a:solidFill>
                  <a:srgbClr val="94A3B8"/>
                </a:solidFill>
                <a:latin typeface="Segoe UI"/>
              </a:rPr>
              <a:t>Logs, planes, métricas y profiling sustentan el diagnóstico.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6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600">
                <a:solidFill>
                  <a:srgbClr val="E2E8F0"/>
                </a:solidFill>
                <a:latin typeface="Segoe UI"/>
              </a:rPr>
              <a:t>Contexto después: </a:t>
            </a:r>
            <a:r>
              <a:rPr b="0" sz="1600">
                <a:solidFill>
                  <a:srgbClr val="94A3B8"/>
                </a:solidFill>
                <a:latin typeface="Segoe UI"/>
              </a:rPr>
              <a:t>OpenMetadata añade semántica y linaje, no tuning de bajo nivel.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6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600">
                <a:solidFill>
                  <a:srgbClr val="E2E8F0"/>
                </a:solidFill>
                <a:latin typeface="Segoe UI"/>
              </a:rPr>
              <a:t>Operación gobernada: </a:t>
            </a:r>
            <a:r>
              <a:rPr b="0" sz="1600">
                <a:solidFill>
                  <a:srgbClr val="94A3B8"/>
                </a:solidFill>
                <a:latin typeface="Segoe UI"/>
              </a:rPr>
              <a:t>Un MSP mide SLAs/SLOs y el DBA aprueba cambios, mide impacto y mantiene rollback.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