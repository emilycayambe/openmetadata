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ARQUITECTURA DE DATOS E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Diagnóstico y Tuning de Bases de Datos Asistido por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Segoe UI"/>
              </a:defRPr>
            </a:pPr>
            <a:r>
              <a:t>Integración con OpenMetadata y operación bajo un modelo MSP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88920"/>
            <a:ext cx="1069848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95351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Pregunta central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¿Cómo convertir señales de PostgreSQL en recomendaciones explicables, seguras y operables?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01 ·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Del tuning reactivo al diagnóstico asistido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Enfoque tradicional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Reacción: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análisis suele empezar después de una alerta o queja de latencia.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Correlación manual: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Logs, planes y métricas viven en herramientas diferentes.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Costo: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DBA invierte tiempo en localizar y reproducir el problema.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Riesgo: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degradación continúa mientras se recopila evidencia.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IA como asistente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Prioriza: </a:t>
            </a:r>
            <a:r>
              <a:rPr b="0" sz="1200">
                <a:solidFill>
                  <a:srgbClr val="94A3B8"/>
                </a:solidFill>
                <a:latin typeface="Segoe UI"/>
              </a:rPr>
              <a:t>Agrupa consultas y ordena anomalías por impacto probable.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Correlaciona: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Relaciona SQL, plan, métricas y cambios en el tiempo.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Anticipa: </a:t>
            </a:r>
            <a:r>
              <a:rPr b="0" sz="1200">
                <a:solidFill>
                  <a:srgbClr val="94A3B8"/>
                </a:solidFill>
                <a:latin typeface="Segoe UI"/>
              </a:rPr>
              <a:t>Usa históricos para detectar tendencias y regresiones.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No reemplaza: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DBA valida causa, riesgo y acción antes del cambio.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02 · EVIDENCIA TÉCNICA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¿Qué señales puede analizar sin conocer la BD?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Telemetría de entrada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Slow Query Logs: </a:t>
            </a:r>
            <a:r>
              <a:rPr b="0" sz="1200">
                <a:solidFill>
                  <a:srgbClr val="94A3B8"/>
                </a:solidFill>
                <a:latin typeface="Segoe UI"/>
              </a:rPr>
              <a:t>Frecuencia, duración y patrones de SQL normalizado.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Execution Plans: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EXPLAIN ANALYZE muestra nodos, filas y tiempos observados.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Buffers: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Distingue páginas en caché de bloques leídos durante el plan.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Wait events: </a:t>
            </a:r>
            <a:r>
              <a:rPr b="0" sz="1200">
                <a:solidFill>
                  <a:srgbClr val="94A3B8"/>
                </a:solidFill>
                <a:latin typeface="Segoe UI"/>
              </a:rPr>
              <a:t>Ayudan a separar espera por I/O, locks, CPU u otros recursos.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Inferencias y límites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Profiling: </a:t>
            </a:r>
            <a:r>
              <a:rPr b="0" sz="1200">
                <a:solidFill>
                  <a:srgbClr val="94A3B8"/>
                </a:solidFill>
                <a:latin typeface="Segoe UI"/>
              </a:rPr>
              <a:t>pg_stat_statements prioriza consultas por costo y frecuencia.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Un filtro selectivo sin índice puede sugerir un candidato.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Contexto necesario: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Esquema, cardinalidad y estadísticas mejoran la hipótesis.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Límite: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IA no infiere semántica ni distribución que no se le entregue.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03 · CATÁLOGO Y GOBIERNO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OpenMetadata: contexto, no motor de tuning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Lo que SÍ aporta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Catálogo: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Inventario de bases, esquemas, tablas y columnas.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Linaje: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Relaciones entre fuentes, tablas, pipelines y consumidores.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Gobierno: </a:t>
            </a:r>
            <a:r>
              <a:rPr b="0" sz="1200">
                <a:solidFill>
                  <a:srgbClr val="94A3B8"/>
                </a:solidFill>
                <a:latin typeface="Segoe UI"/>
              </a:rPr>
              <a:t>Propiedad, clasificación, descripciones y trazabilidad.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Contexto para IA: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agente consulta columnas, descripción y tags por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Lo que NO hace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No ejecuta consultas: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PostgreSQL sigue planificando y ejecutando SQL.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No es observabilidad: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sustituye logs, EXPLAIN ni métricas de runtime.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No crea índices: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decide si el costo de escritura es aceptable.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Estado del laboratorio: </a:t>
            </a:r>
            <a:r>
              <a:rPr b="0" sz="1200">
                <a:solidFill>
                  <a:srgbClr val="94A3B8"/>
                </a:solidFill>
                <a:latin typeface="Segoe UI"/>
              </a:rPr>
              <a:t>OpenMetadata 2.0.3 + ingesta PostgreSQL en Compose separado.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04 · 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Stack local con catálogo y diagnóstico integrado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Servicios desplegables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PostgreSQL 16: </a:t>
            </a:r>
            <a:r>
              <a:rPr b="0" sz="1200">
                <a:solidFill>
                  <a:srgbClr val="94A3B8"/>
                </a:solidFill>
                <a:latin typeface="Segoe UI"/>
              </a:rPr>
              <a:t>Esquema sintético y extensión pg_stat_statements.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Promtail: </a:t>
            </a:r>
            <a:r>
              <a:rPr b="0" sz="1200">
                <a:solidFill>
                  <a:srgbClr val="94A3B8"/>
                </a:solidFill>
                <a:latin typeface="Segoe UI"/>
              </a:rPr>
              <a:t>Lee los logs del contenedor en modo solo lectura.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Loki + Grafana: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Centralizan y muestran eventos consultables.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OpenMetadata: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Ingiere y cataloga el esquema PostgreSQL.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Diagnóstico y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1. Evidencia: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agente obtiene plan real con EXPLAIN JSON.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2. Contexto: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Consulta FQN, columnas, descripción y tags por API.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3. Análisis: </a:t>
            </a:r>
            <a:r>
              <a:rPr b="0" sz="1200">
                <a:solidFill>
                  <a:srgbClr val="94A3B8"/>
                </a:solidFill>
                <a:latin typeface="Segoe UI"/>
              </a:rPr>
              <a:t>Ollama/OpenAI devuelve una hipótesis contrastable.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4. Gobierno: </a:t>
            </a:r>
            <a:r>
              <a:rPr b="0" sz="1200">
                <a:solidFill>
                  <a:srgbClr val="94A3B8"/>
                </a:solidFill>
                <a:latin typeface="Segoe UI"/>
              </a:rPr>
              <a:t>DBA/MSP revisa y autoriza las pruebas o cambios.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05 · SERVICIO GESTIONADO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Operación de base de datos bajo un modelo MSP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Operación 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0175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Cobertura: </a:t>
            </a:r>
            <a:r>
              <a:rPr b="0" sz="1100">
                <a:solidFill>
                  <a:srgbClr val="94A3B8"/>
                </a:solidFill>
                <a:latin typeface="Segoe UI"/>
              </a:rPr>
              <a:t>Monitoreo, guardias y escalamiento por severidad.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Continuidad: </a:t>
            </a:r>
            <a:r>
              <a:rPr b="0" sz="1100">
                <a:solidFill>
                  <a:srgbClr val="94A3B8"/>
                </a:solidFill>
                <a:latin typeface="Segoe UI"/>
              </a:rPr>
              <a:t>Backups, restauración, capacidad y parchado.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Tuning: </a:t>
            </a:r>
            <a:r>
              <a:rPr b="0" sz="1100">
                <a:solidFill>
                  <a:srgbClr val="94A3B8"/>
                </a:solidFill>
                <a:latin typeface="Segoe UI"/>
              </a:rPr>
              <a:t>Revisión de latencia y cambios de forma continua.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Acuerdos medibles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175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SLA: </a:t>
            </a:r>
            <a:r>
              <a:rPr b="0" sz="1100">
                <a:solidFill>
                  <a:srgbClr val="94A3B8"/>
                </a:solidFill>
                <a:latin typeface="Segoe UI"/>
              </a:rPr>
              <a:t>Compromiso contractual acordado con el cliente.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SLO: </a:t>
            </a:r>
            <a:r>
              <a:rPr b="0" sz="1100">
                <a:solidFill>
                  <a:srgbClr val="94A3B8"/>
                </a:solidFill>
                <a:latin typeface="Segoe UI"/>
              </a:rPr>
              <a:t>Objetivo operativo medible del servicio.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SLI: </a:t>
            </a:r>
            <a:r>
              <a:rPr b="0" sz="1100">
                <a:solidFill>
                  <a:srgbClr val="94A3B8"/>
                </a:solidFill>
                <a:latin typeface="Segoe UI"/>
              </a:rPr>
              <a:t>Indicador observado, por ejemplo disponibilidad.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Control de cambios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57400"/>
            <a:ext cx="30175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IA: </a:t>
            </a:r>
            <a:r>
              <a:rPr b="0" sz="1100">
                <a:solidFill>
                  <a:srgbClr val="94A3B8"/>
                </a:solidFill>
                <a:latin typeface="Segoe UI"/>
              </a:rPr>
              <a:t>Clasifica y prepara diagnóstico con evidencia.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MSP/DBA: </a:t>
            </a:r>
            <a:r>
              <a:rPr b="0" sz="1100">
                <a:solidFill>
                  <a:srgbClr val="94A3B8"/>
                </a:solidFill>
                <a:latin typeface="Segoe UI"/>
              </a:rPr>
              <a:t>Valida impacto, ventana, aprobación y rollback.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Cliente: </a:t>
            </a:r>
            <a:r>
              <a:rPr b="0" sz="1100">
                <a:solidFill>
                  <a:srgbClr val="94A3B8"/>
                </a:solidFill>
                <a:latin typeface="Segoe UI"/>
              </a:rPr>
              <a:t>Define criticidad, políticas y aceptación de riesgo.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06 · LABORATORIO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Caso reproducible sobre PostgreSQL del proyecto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Línea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Entorno: </a:t>
            </a:r>
            <a:r>
              <a:rPr b="0" sz="1200">
                <a:solidFill>
                  <a:srgbClr val="94A3B8"/>
                </a:solidFill>
                <a:latin typeface="Segoe UI"/>
              </a:rPr>
              <a:t>Docker Compose; PostgreSQL 16 y datos sintéticos existentes.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Tabla: </a:t>
            </a:r>
            <a:r>
              <a:rPr b="0" sz="1200">
                <a:solidFill>
                  <a:srgbClr val="94A3B8"/>
                </a:solidFill>
                <a:latin typeface="Segoe UI"/>
              </a:rPr>
              <a:t>transacciones, con cientos de miles de filas en volumen inicial.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Consulta: </a:t>
            </a:r>
            <a:r>
              <a:rPr b="0" sz="1200">
                <a:solidFill>
                  <a:srgbClr val="94A3B8"/>
                </a:solidFill>
                <a:latin typeface="Segoe UI"/>
              </a:rPr>
              <a:t>Historial de una cuenta con filtro temporal, orden y límite.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Medición: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EXPLAIN JSON, cinco muestras por escenario.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Consulta del experimento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Filtro: </a:t>
            </a:r>
            <a:r>
              <a:rPr b="0" sz="1200">
                <a:solidFill>
                  <a:srgbClr val="94A3B8"/>
                </a:solidFill>
                <a:latin typeface="Segoe UI"/>
              </a:rPr>
              <a:t>cuenta_id = 1520 y fecha_hora desde 2024-01-01.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Observación: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modelo identifica cuellos desde el plan, sin solución sugerida.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Salida al agente: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Plan JSON, columnas e índices actuales.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Cautela: </a:t>
            </a:r>
            <a:r>
              <a:rPr b="0" sz="1200">
                <a:solidFill>
                  <a:srgbClr val="94A3B8"/>
                </a:solidFill>
                <a:latin typeface="Segoe UI"/>
              </a:rPr>
              <a:t>ANALYZE ejecuta la consulta; no usar a ciegas en producción.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07 · RECOMENDACIÓN Y VERIFICACIÓN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Del diagnóstico a una hipótesis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Agente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Entrada: </a:t>
            </a:r>
            <a:r>
              <a:rPr b="0" sz="1200">
                <a:solidFill>
                  <a:srgbClr val="94A3B8"/>
                </a:solidFill>
                <a:latin typeface="Segoe UI"/>
              </a:rPr>
              <a:t>SQL, plan, esquema e índices actuales.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Diagnóstico: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Explica el cuello con evidencia, no solo con intuición.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Estrategias: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Propone alternativas justificadas o recomienda no cambiar.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Límites: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Declara evidencia faltante y beneficios/riesgos esperados.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Validación humana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Contrastar: </a:t>
            </a:r>
            <a:r>
              <a:rPr b="0" sz="1200">
                <a:solidFill>
                  <a:srgbClr val="94A3B8"/>
                </a:solidFill>
                <a:latin typeface="Segoe UI"/>
              </a:rPr>
              <a:t>Verificar la recomendación con el plan y los índices reales.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Probar: </a:t>
            </a:r>
            <a:r>
              <a:rPr b="0" sz="1200">
                <a:solidFill>
                  <a:srgbClr val="94A3B8"/>
                </a:solidFill>
                <a:latin typeface="Segoe UI"/>
              </a:rPr>
              <a:t>Tres candidatos predefinidos en copias temporales.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Medir: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Calienta y alterna: compara filas, buffers y medianas.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Límite: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índice temporal se elimina; prueba solo en laboratorio.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08 · 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Secuencia de exposición: evidencia, recomendación, 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0175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Comando: </a:t>
            </a:r>
            <a:r>
              <a:rPr b="0" sz="1100">
                <a:solidFill>
                  <a:srgbClr val="94A3B8"/>
                </a:solidFill>
                <a:latin typeface="Segoe UI"/>
              </a:rPr>
              <a:t>docker compose up -d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Después: </a:t>
            </a:r>
            <a:r>
              <a:rPr b="0" sz="1100">
                <a:solidFill>
                  <a:srgbClr val="94A3B8"/>
                </a:solidFill>
                <a:latin typeface="Segoe UI"/>
              </a:rPr>
              <a:t>py .\scripts\ai_db_tuning.py --use-openmetadata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Mostrar: </a:t>
            </a:r>
            <a:r>
              <a:rPr b="0" sz="1100">
                <a:solidFill>
                  <a:srgbClr val="94A3B8"/>
                </a:solidFill>
                <a:latin typeface="Segoe UI"/>
              </a:rPr>
              <a:t>Plan inicial, scan, buffers y estimaciones.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Analizar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175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Modelo: </a:t>
            </a:r>
            <a:r>
              <a:rPr b="0" sz="1100">
                <a:solidFill>
                  <a:srgbClr val="94A3B8"/>
                </a:solidFill>
                <a:latin typeface="Segoe UI"/>
              </a:rPr>
              <a:t>Ollama local o OpenAI API configurado.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Explicar: </a:t>
            </a:r>
            <a:r>
              <a:rPr b="0" sz="1100">
                <a:solidFill>
                  <a:srgbClr val="94A3B8"/>
                </a:solidFill>
                <a:latin typeface="Segoe UI"/>
              </a:rPr>
              <a:t>La IA recibe evidencia y esquema, no magia.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Gobernar: </a:t>
            </a:r>
            <a:r>
              <a:rPr b="0" sz="1100">
                <a:solidFill>
                  <a:srgbClr val="94A3B8"/>
                </a:solidFill>
                <a:latin typeface="Segoe UI"/>
              </a:rPr>
              <a:t>Se inspecciona recomendación antes de cambiar.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Verificar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57400"/>
            <a:ext cx="30175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Hipótesis: </a:t>
            </a:r>
            <a:r>
              <a:rPr b="0" sz="1100">
                <a:solidFill>
                  <a:srgbClr val="94A3B8"/>
                </a:solidFill>
                <a:latin typeface="Segoe UI"/>
              </a:rPr>
              <a:t>El modelo sugirió un índice sobre cuenta_id.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Resultado: </a:t>
            </a:r>
            <a:r>
              <a:rPr b="0" sz="1100">
                <a:solidFill>
                  <a:srgbClr val="94A3B8"/>
                </a:solidFill>
                <a:latin typeface="Segoe UI"/>
              </a:rPr>
              <a:t>Misma salida; mediana observada: 8,905 a 0,085 ms.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1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100">
                <a:solidFill>
                  <a:srgbClr val="E2E8F0"/>
                </a:solidFill>
                <a:latin typeface="Segoe UI"/>
              </a:rPr>
              <a:t>Cautela: </a:t>
            </a:r>
            <a:r>
              <a:rPr b="0" sz="1100">
                <a:solidFill>
                  <a:srgbClr val="94A3B8"/>
                </a:solidFill>
                <a:latin typeface="Segoe UI"/>
              </a:rPr>
              <a:t>Lecturas locales 1.906 a 6; resultado no garantizado.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CONCLUSIÓN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La IA acelera el diagnóstico; la responsabilidad sigue siendo humana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6984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Tres ideas para llevar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6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600">
                <a:solidFill>
                  <a:srgbClr val="E2E8F0"/>
                </a:solidFill>
                <a:latin typeface="Segoe UI"/>
              </a:rPr>
              <a:t>Evidencia primero: </a:t>
            </a:r>
            <a:r>
              <a:rPr b="0" sz="1600">
                <a:solidFill>
                  <a:srgbClr val="94A3B8"/>
                </a:solidFill>
                <a:latin typeface="Segoe UI"/>
              </a:rPr>
              <a:t>Logs, planes, métricas y profiling sustentan el diagnóstico.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6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600">
                <a:solidFill>
                  <a:srgbClr val="E2E8F0"/>
                </a:solidFill>
                <a:latin typeface="Segoe UI"/>
              </a:rPr>
              <a:t>Contexto después: </a:t>
            </a:r>
            <a:r>
              <a:rPr b="0" sz="1600">
                <a:solidFill>
                  <a:srgbClr val="94A3B8"/>
                </a:solidFill>
                <a:latin typeface="Segoe UI"/>
              </a:rPr>
              <a:t>OpenMetadata añade semántica y linaje, no tuning de bajo nivel.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6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600">
                <a:solidFill>
                  <a:srgbClr val="E2E8F0"/>
                </a:solidFill>
                <a:latin typeface="Segoe UI"/>
              </a:rPr>
              <a:t>Operación gobernada: </a:t>
            </a:r>
            <a:r>
              <a:rPr b="0" sz="1600">
                <a:solidFill>
                  <a:srgbClr val="94A3B8"/>
                </a:solidFill>
                <a:latin typeface="Segoe UI"/>
              </a:rPr>
              <a:t>Un MSP mide SLAs/SLOs y el DBA aprueba cambios, mide impacto y mantiene rollback.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