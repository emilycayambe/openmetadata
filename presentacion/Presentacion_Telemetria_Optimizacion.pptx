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6984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ALMACENAMIENTO Y MINERÍA DE DATOS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10698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400" b="1">
                <a:solidFill>
                  <a:srgbClr val="F8FAFC"/>
                </a:solidFill>
                <a:latin typeface="Segoe UI"/>
              </a:defRPr>
            </a:pPr>
            <a:r>
              <a:t>Backups, Telemetría y Optimización SQL</a:t>
            </a:r>
          </a:p>
          <a:p>
            <a:pPr>
              <a:spcBef>
                <a:spcPts val="800"/>
              </a:spcBef>
              <a:defRPr sz="1600">
                <a:solidFill>
                  <a:srgbClr val="94A3B8"/>
                </a:solidFill>
                <a:latin typeface="Segoe UI"/>
              </a:defRPr>
            </a:pPr>
            <a:r>
              <a:t>Arquitectura Desacoplada, Resiliencia y Análisis de Rendimiento en Bases de Datos Relacionales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114800"/>
            <a:ext cx="512064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4279392"/>
            <a:ext cx="46634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Marco del Proyecto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4663440"/>
            <a:ext cx="466344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Nivel Académico: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8vo Ciclo de Ingeniería de Sistemas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Paradigma: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Infraestructura como Código (IaC) con Docker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PostgreSQL 16 Enterprise con Telemetría Desacoplada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4114800"/>
            <a:ext cx="5212080" cy="19202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427939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Equipo de Investigación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4663440"/>
            <a:ext cx="47548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Integrantes: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Zaid San Lucas y equipo de proyecto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Áreas de Demostración: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Respaldo continuo, observabilidad y afinamiento SQL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Entorno de Pruebas: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Contenedores aislados y reproducibles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CONTEXTO Y DESAFÍOS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¿Por qué fallan las bases de datos en producción?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1. Pérdida Crítica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Operativo: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Fallas físicas de disco, corrupción o sentencias destructivas accidentales.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Limitación Tradicional: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Los backups lógicos diarios dejan ventanas de pérdida de varias horas.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Alcanzar un RPO cercano a cero mediante la captura continua de transacciones.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2. Saturación por Logs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La Paradoja: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sentencia genera registros de auditoría y WAL; los logs crecen más rápido que las tablas.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Competencia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Almacenar logs en el mismo disco transaccional penaliza las consultas de clientes.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Desacoplar la ingesta hacia un servidor de observabilidad dedicado.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3. Latencia en Consultas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Degradación: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Tablas con cientos de miles de filas colapsan en memoria ante escaneos secuenciales.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Anti-patrones: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Uso inadecuado de funciones en cláusulas WHERE que invalidan índices estándar.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Objetivo: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Reducir latencias de 15ms a 0.1ms mediante árboles B-Tree y tuning asistido.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INFRAESTRUCTURA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Arquitectura Desacoplada en Contenedores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Topología de Servicios Aislados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db-primary (PostgreSQL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Motor transaccional central con 600,000 registros sintéticos y logging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promtail-agent: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Agente de recolección en streaming que lee logs continuos sin impactar 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loki-server: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Servidor desacoplado especializado en la indexación comprimida de telemetría.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grafana-dashboard: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Capa visual para monitoreo de QPS, errores y rendimiento en tiempo real.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backup_storage: </a:t>
            </a:r>
            <a:r>
              <a:rPr b="0" sz="1200">
                <a:solidFill>
                  <a:srgbClr val="94A3B8"/>
                </a:solidFill>
                <a:latin typeface="Segoe UI"/>
              </a:rPr>
              <a:t>Volumen de almacenamiento aislado para dumps completos y archivos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Criterios de Diseño Arquitectónico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Aislamiento de I/O: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Las consultas de análisis de logs no consumen el ancho de banda del almacenamiento transaccional.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Post-Mortem: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la base de datos se detiene o sufre corrupción, los registros de auditoría siguen accesibles en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Cero Presupuesto: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Implementación 100% libre de costos de nube, totalmente reproducible en cualquier equipo con Docker.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Configuraciones predefinidas en código evitan inconsistencias entre entornos de desarrollo.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Taxonomía de Backups: Totales, Incrementales y Diferenciales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Total (Full):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Copia íntegra de estructuras y datos. Base obligatoria para cualquier plan de continuidad.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Almacena únicamente las modificaciones ocurridas desde el respaldo previo más reciente.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Acumula todas las variaciones producidas desde el último Backup Total registrado.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RPO: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Point Objective; volumen máximo de transacciones que la organización tolera perder.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Métrica RTO: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Recovery Time Objective; plazo máximo admisible para restablecer la operatividad normal.</a:t>
            </a:r>
          </a:p>
        </p:txBody>
      </p:sp>
      <p:pic>
        <p:nvPicPr>
          <p:cNvPr id="8" name="Picture 7" descr="grafico_tipos_backup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MECANISMOS DE RECUPERACIÓN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Criterios de Selección: ¿Cuándo Utilizar Cada Método?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Escenarios Recomendados por Tipo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Ventanas semanales o mensuales de bajo tráfico (ej. domingos en la noche); indispensable antes de migraciones de esquema mayores.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Diferencial: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diaria nocturna entre semana; recomendado cuando se exige un RTO muy rápido, ya que solo se restaura el Full + último diferencial.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Cuándo usar Backup Incremental: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horaria o continua mediante WAL archiving; ideal para sistemas transaccionales críticos donde el RPO debe ser menor a 5 minutos.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Enfoque Híbrido Estándar: </a:t>
            </a:r>
            <a:r>
              <a:rPr b="0" sz="1200">
                <a:solidFill>
                  <a:srgbClr val="94A3B8"/>
                </a:solidFill>
                <a:latin typeface="Segoe UI"/>
              </a:rPr>
              <a:t>Full semanal + Diferencial diario + Archivado continuo de WALs en tiempo real.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Impacto en Recursos y Recuperación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Sobrecarga de I/O en Producción: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Backup Total satura lecturas en disco; el Incremental lee únicamente bloques modificados o registros WAL.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Espacio de Almacenamiento: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Total requiere terabytes de destino; el Incremental minimiza el uso de disco al capturar solo deltas.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Riesgo en la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 un segmento incremental de la cadena se corrompe, los incrementales posteriores se vuelven inválidos.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Velocidad de Restauración (RTO):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Diferencial restaura en 2 pasos; Incremental exige aplicar Full + Inc1 + Inc2 + ... + IncN.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ARQUITECTURA INTERNA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Anatomía del WAL y el Motor de Archivador (archive_mode)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Convención Hexadecimal de 24 Caracteres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Estructura Física: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Cada fichero WAL tiene un tamaño inmutable de exactamente 16.0 MB (ej. 00000001000000000000001D).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Timeline ID (Primeros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00000001 identifica la línea temporal del motor; se incrementa si una réplica es promovida a nodo maestro.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Log ID (Dígitos 9 al 16):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00000000 indica el número de serie del ciclo lógico de registros de transacciones.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Segmento LSN (Últimos 8 dígitos):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0000001D representa el número correlativo del segmento dentro del ciclo activo.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WAL Inviolable: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Ningún registro se persiste en las tablas de datos sin antes haberse volcado en el WAL.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El Hilo del Motor: archive_mode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Qué es archive_mode: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Interruptor maestro que activa el proceso interno de fondo (Archiver Process) en PostgreSQL.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Parámetro POSTMASTER: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puede cambiarse al vuelo con un simple SET en DBeaver; exige reinicio del motor porque reserva memoria compartida al arrancar.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Mecanismo Reactivo: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En lugar de scripts manuales periódicos, el motor expulsa el archivo en el milisegundo exacto en que se sella el bloque de 16MB.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con pg_stat_archiver: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Vista del sistema que audita en vivo: archived_count (29 WALs), último archivo y hora exacta de despacho.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OPERACIONES Y HERRAMIENTAS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Comandos Nativos: Banderas Críticas y Sintaxis de Archivador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Generación de Respaldo y archive_command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pg_dump con Formato Custom (-F c):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Comprime con zlib (13 MB para 600k filas) y genera metadatos para restauraciones selectivas o paralelas (-j).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Banderas -b (Blobs) y -v (Verbose):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Garantizan integridad binaria y trazabilidad completa de cada tabla exportada.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Sintaxis de archive_command: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%p (ruta del segmento cerrado en pg_wal) y %f (nombre del fichero) para enviar el WAL al destino seguro.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Rotación Manual (pg_switch_wal):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SELECT pg_switch_wal(); fuerza el sellado del bloque activo para archivado inmediato sin esperar archive_timeout.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Restauración (pg_restore)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Comando de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pg_restore -U admin_db -d banco_telemetria --clean --if-exists -v &lt;archivo.dump&gt;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--clean: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Emite sentencias DROP sobre tablas existentes antes de recrear las estructuras, evitando conflictos.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--if-exists: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Evita que el proceso aborte con error si un objeto a borrar no existía previamente.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Bandera --no-owner: </a:t>
            </a:r>
            <a:r>
              <a:rPr b="0" sz="1200">
                <a:solidFill>
                  <a:srgbClr val="94A3B8"/>
                </a:solidFill>
                <a:latin typeface="Segoe UI"/>
              </a:rPr>
              <a:t>Omite comandos de asignación de propiedad original para permitir restaurar entre diferentes usuarios o entornos.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Consistencia Transaccional: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Utiliza transacciones snapshot con nivel REPEATABLE READ para asegurar coherencia sin bloquear operaciones.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VALIDACIÓN PRÁCTICA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Simulación de Pérdida de Datos y Restauración de Contingencia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Procedimiento de la Prueba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1 (Respaldo Base):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de dump binario comprimido de 13 MB mediante pg_dump en 3.9 segundos.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2 (Transacción Crítica):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Registro de movimientos financieros de última hora posteriores al backup base.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3 (Desastre Simulado):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sentencia destructiva accidental: DROP TABLE transacciones, cuentas, clientes CASCADE.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4 (Verificación de Pérdida):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Consulta de catálogo donde se constata la indisponibilidad total de la información.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Fase 5 (Restauración Exitosa):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procedimiento de contingencia recuperando las 600,000 filas en 5 segundos.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Mecanismo Point-In-Time Recovery (PITR)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a Punto Específico: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Combina el último Backup Total con el 'replay' secuencial de los segmentos WAL archivados.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recovery_target_time: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Parámetro que permite detener la reproducción de logs en la hora exacta previa al error humano.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recovery_target_lsn: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Detención en una posición de bytes exacta de LSN para máxima precisión forense.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Resiliencia Total: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Garantiza que la empresa no pierda las transacciones del día entre el último backup y el desastre.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SOLUCIONES DE GRAN ESCALA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Ecosistema Corporativo: Respaldos Físicos y Continuos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Respaldos Físicos: pg_basebackup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Copia Binaria Bit a Bit: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pg_dump que genera sentencias SQL, pg_basebackup copia los bloques reales de datos ($PGDATA) a nivel de páginas de 8KB.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Streaming de WALs (-Xs):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Abre una conexión simultánea que captura en streaming los WALs generados durante la copia para asegurar consistencia.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Configuración de Réplicas (-R):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 automáticamente el fichero standby.signal y los parámetros de conexión primaria para levantar réplicas en caliente.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Velocidad de Restauración: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Inmediata; el motor arranca directamente sobre los bloques sin tener que reconstruir esquemas ni reindexar.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Herramientas de Nivel Bancario y Cloud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pgBackRest (Estándar de la Industria):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software más robusto para backups incrementales y diferenciales a nivel de bloque (delta de páginas de 8KB), compresión multihilo LZ4/Zstandard y deduplicación.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Barman (Backup &amp; Recovery Manager):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Desarrollado por EnterpriseDB para la administración remota de catálogos y clusters masivos de bases de datos.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WAL-G (Cloud-Native):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Diseñado para Kubernetes y contenedores; envía respaldos físicos y WALs comprimidos directamente hacia buckets en AWS S3, Google Cloud Storage o Azure Blob.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Snapshots de Almacenamiento (SAN/EBS):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pg_backup_start() y pg_backup_stop() permiten congelar la consistencia y tomar snapshots de disco virtual en segundos.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OBSERVABILIDAD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Telemetría de Consultas y Almacenamiento Centralizado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Dimensiones de la Telemetría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Más allá del Hardware: </a:t>
            </a:r>
            <a:r>
              <a:rPr b="0" sz="1200">
                <a:solidFill>
                  <a:srgbClr val="94A3B8"/>
                </a:solidFill>
                <a:latin typeface="Segoe UI"/>
              </a:rPr>
              <a:t>No se limita al uso de CPU o memoria; audita cada sentencia ejecutada por clientes y aplicaciones.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Throughput (QPS):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Mide el volumen de operaciones por segundo y detecta picos de demanda inusuales.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Composición DML: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Distribución entre consultas de lectura (SELECT) y operaciones de escritura (INSERT, UPDATE).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Alertas Tempranas: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inmediata de bloqueos (locks), transacciones canceladas y rollbacks.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Eficiencia de Grafana Loki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Indexación por Metadatos: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A diferencia de motores convencionales, Loki solo indexa etiquetas; reduce el consumo de RAM hasta un 90%.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Consumo No Invasivo: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Promtail recopila logs en streaming sin abrir bloqueos de tabla ni interferir en sesiones activas.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Visibilidad Central: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Dashboards dinámicos permiten correlacionar latencias de consultas con eventos del motor.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Retención Independiente: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Políticas de archivado de logs sin comprometer el ciclo de vida de los datos transaccionales.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DIAGNÓSTICO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Comportamiento del Almacenamiento: Datos vs Logs Transaccionales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Hallazgos de la Simulación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Condición de Prueba: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continua de 500 sentencias UPDATE consecutivas sobre una única fila de saldo.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Tablas: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tamaño físico de la tabla en disco se mantiene invariable (~12.1 MB).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Resultado en Logs: </a:t>
            </a:r>
            <a:r>
              <a:rPr b="0" sz="1200">
                <a:solidFill>
                  <a:srgbClr val="94A3B8"/>
                </a:solidFill>
                <a:latin typeface="Segoe UI"/>
              </a:rPr>
              <a:t>Se emitieron 500 registros WAL de 16 MB y cientos de entradas de auditoría hacia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Conclusión Crítica: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almacenamiento de logs crece en función de la actividad operativa, no del número de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Principio Rector: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separación de discos e instancias de log es indispensable para evitar incidentes por disco lleno.</a:t>
            </a:r>
          </a:p>
        </p:txBody>
      </p:sp>
      <p:pic>
        <p:nvPicPr>
          <p:cNvPr id="8" name="Picture 7" descr="grafico_paradoja_log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AFINAMIENTO DE RENDIMIENTO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Análisis de Planes de Ejecución y Métricas de E/S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Fundamentos de EXPLAIN ANALYZE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Tiempo de Ejecución: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Medición cronométrica real del procesamiento interno en el motor de la base de datos.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Buffers (Hit vs Read): </a:t>
            </a:r>
            <a:r>
              <a:rPr b="0" sz="1200">
                <a:solidFill>
                  <a:srgbClr val="94A3B8"/>
                </a:solidFill>
                <a:latin typeface="Segoe UI"/>
              </a:rPr>
              <a:t>Hit indica lectura directa en memoria RAM; Read representa lectura física de disco (cuello de botella de E/S).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Sequential Scan (Seq Scan): </a:t>
            </a:r>
            <a:r>
              <a:rPr b="0" sz="1200">
                <a:solidFill>
                  <a:srgbClr val="94A3B8"/>
                </a:solidFill>
                <a:latin typeface="Segoe UI"/>
              </a:rPr>
              <a:t>Recorrido exhaustivo de cada página de la tabla. Ineficiente para búsquedas selectivas sobre grandes volúmenes.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Index Scan: </a:t>
            </a:r>
            <a:r>
              <a:rPr b="0" sz="1200">
                <a:solidFill>
                  <a:srgbClr val="94A3B8"/>
                </a:solidFill>
                <a:latin typeface="Segoe UI"/>
              </a:rPr>
              <a:t>Acceso selectivo mediante estructuras balanceadas B-Tree con complejidad logarítmica O(log 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508760"/>
            <a:ext cx="52120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46520" y="167335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Técnicas de Indexación Aplicadas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2057400"/>
            <a:ext cx="475488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B-Tree Único: </a:t>
            </a:r>
            <a:r>
              <a:rPr b="0" sz="1200">
                <a:solidFill>
                  <a:srgbClr val="94A3B8"/>
                </a:solidFill>
                <a:latin typeface="Segoe UI"/>
              </a:rPr>
              <a:t>Búsqueda directa por documento de identidad; evita el escaneo de 100,000 filas.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Compuesto Multicolumna: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Indexación simultánea de cuenta y fecha; elimina la necesidad de ordenamiento en memoria (Sort).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Índice Basado en Expresiones: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Creación sobre funciones de transformación (ej. LOWER); neutraliza anti-patrones en el WHERE.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Auditoría con pg_stat_statements: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acumulada para identificar las 10 consultas más lentas del sistema global.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RESULTADOS COMPARATIVOS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Impacto de la Optimización: De Sequential Scan a Index Scan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502920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Métricas de Desempeño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057400"/>
            <a:ext cx="45720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1 (Búsqueda por DNI): </a:t>
            </a:r>
            <a:r>
              <a:rPr b="0" sz="1200">
                <a:solidFill>
                  <a:srgbClr val="94A3B8"/>
                </a:solidFill>
                <a:latin typeface="Segoe UI"/>
              </a:rPr>
              <a:t>La latencia se redujo de 13.71 ms a 0.12 ms; las lecturas pasaron de 1,301 bloques a solo 4 bloques (mejora &gt;110x).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2 (Cuentas y Fechas):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compuesto evitó el Quicksort sobre 400k filas; la latencia se redujo de 391.04 ms a 0.10 ms (mejora &gt;3,900x).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Caso 3 (Uso de LOWER): </a:t>
            </a:r>
            <a:r>
              <a:rPr b="0" sz="1200">
                <a:solidFill>
                  <a:srgbClr val="94A3B8"/>
                </a:solidFill>
                <a:latin typeface="Segoe UI"/>
              </a:rPr>
              <a:t>El índice funcional resolvió la invalidación del índice estándar, reduciendo el tiempo de 71.17 ms a 0.72 ms (mejora &gt;95x).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Eficiencia General: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Menor contención de memoria compartida y liberación inmediata de conexiones en el pool.</a:t>
            </a:r>
          </a:p>
        </p:txBody>
      </p:sp>
      <p:pic>
        <p:nvPicPr>
          <p:cNvPr id="8" name="Picture 7" descr="grafico_optimizacion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645920"/>
            <a:ext cx="5394960" cy="337185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METODOLOGÍA EXPERIMENTAL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Flujo Integrado de Demostración del Laboratorio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1: Línea Base y Respaldo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Poblado Inicial: </a:t>
            </a:r>
            <a:r>
              <a:rPr b="0" sz="1200">
                <a:solidFill>
                  <a:srgbClr val="94A3B8"/>
                </a:solidFill>
                <a:latin typeface="Segoe UI"/>
              </a:rPr>
              <a:t>Generación masiva de 600,000 registros sintéticos en PostgreSQL mediante funciones de memoria.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Respaldo Completo: </a:t>
            </a:r>
            <a:r>
              <a:rPr b="0" sz="1200">
                <a:solidFill>
                  <a:srgbClr val="94A3B8"/>
                </a:solidFill>
                <a:latin typeface="Segoe UI"/>
              </a:rPr>
              <a:t>Ejecución de snapshot inicial en formato comprimido dentro del almacenamiento aislado.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Recuperación PITR: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incidente destructivo y validación de consistencia transaccional tras restaurar.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508760"/>
            <a:ext cx="329184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17720" y="1673352"/>
            <a:ext cx="2834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2: Telemetría y Carga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103120"/>
            <a:ext cx="292608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Inyección Concurrente: </a:t>
            </a:r>
            <a:r>
              <a:rPr b="0" sz="1200">
                <a:solidFill>
                  <a:srgbClr val="94A3B8"/>
                </a:solidFill>
                <a:latin typeface="Segoe UI"/>
              </a:rPr>
              <a:t>Simulación de tráfico transaccional continuo (lecturas, transferencias y rollbacks).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Transmisión en Streaming: </a:t>
            </a:r>
            <a:r>
              <a:rPr b="0" sz="1200">
                <a:solidFill>
                  <a:srgbClr val="94A3B8"/>
                </a:solidFill>
                <a:latin typeface="Segoe UI"/>
              </a:rPr>
              <a:t>Captura en tiempo real de eventos con Promtail hacia el repositorio de Loki.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Monitoreo en Vivo: </a:t>
            </a:r>
            <a:r>
              <a:rPr b="0" sz="1200">
                <a:solidFill>
                  <a:srgbClr val="94A3B8"/>
                </a:solidFill>
                <a:latin typeface="Segoe UI"/>
              </a:rPr>
              <a:t>Inspección de curvas de QPS, patrones de escritura y registro de errores en Grafana.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75320" y="1673352"/>
            <a:ext cx="29260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Fase 3: Diagnóstico y Tuning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103120"/>
            <a:ext cx="30175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Detección de Cuellos: </a:t>
            </a:r>
            <a:r>
              <a:rPr b="0" sz="1200">
                <a:solidFill>
                  <a:srgbClr val="94A3B8"/>
                </a:solidFill>
                <a:latin typeface="Segoe UI"/>
              </a:rPr>
              <a:t>Identificación de sentencias costosas reportadas por telemetría y pg_stat_statements.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Análisis de Planes: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Evaluación de costos y lecturas de bloques de disco mediante EXPLAIN ANALYZE.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2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200">
                <a:solidFill>
                  <a:srgbClr val="E2E8F0"/>
                </a:solidFill>
                <a:latin typeface="Segoe UI"/>
              </a:rPr>
              <a:t>Verificación de Índices: </a:t>
            </a:r>
            <a:r>
              <a:rPr b="0" sz="1200">
                <a:solidFill>
                  <a:srgbClr val="94A3B8"/>
                </a:solidFill>
                <a:latin typeface="Segoe UI"/>
              </a:rPr>
              <a:t>Constatación inmediata de la caída drástica en la latencia tras crear las estructuras.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8404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SÍNTESIS EJECUTIVA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58368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8FAFC"/>
                </a:solidFill>
                <a:latin typeface="Segoe UI"/>
              </a:defRPr>
            </a:pPr>
            <a:r>
              <a:t>Conclusiones y Recomendaciones de Arquitectura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08760"/>
            <a:ext cx="10698480" cy="466344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73352"/>
            <a:ext cx="102412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60A5FA"/>
                </a:solidFill>
                <a:latin typeface="Segoe UI"/>
              </a:defRPr>
            </a:pPr>
            <a:r>
              <a:t>Principios Fundamentales para Entornos Empresariales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1014984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1. Continuidad Operativa: </a:t>
            </a:r>
            <a:r>
              <a:rPr b="0" sz="1300">
                <a:solidFill>
                  <a:srgbClr val="94A3B8"/>
                </a:solidFill>
                <a:latin typeface="Segoe UI"/>
              </a:rPr>
              <a:t>Los respaldos estáticos son insuficientes para sistemas de alta disponibilidad; el archivado continuo de transacciones (WAL) es indispensable para minimizar el RPO ante contingencias críticas.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2. Aislamiento de Observabilidad: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telemetría genera un volumen de datos superior al del propio negocio; su desacoplamiento a servidores dedicados (Loki) salvaguarda el rendimiento de disco y la CPU de producción.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3. Diagnóstico Científico: </a:t>
            </a:r>
            <a:r>
              <a:rPr b="0" sz="1300">
                <a:solidFill>
                  <a:srgbClr val="94A3B8"/>
                </a:solidFill>
                <a:latin typeface="Segoe UI"/>
              </a:rPr>
              <a:t>La optimización de bases de datos requiere evidencia cuantitativa; la telemetría señala dónde ocurren las demoras, y el plan de ejecución revela las causas a nivel de bloques de almacenamiento.</a:t>
            </a:r>
          </a:p>
          <a:p>
            <a:pPr>
              <a:spcBef>
                <a:spcPts val="200"/>
              </a:spcBef>
              <a:spcAft>
                <a:spcPts val="700"/>
              </a:spcAft>
            </a:pPr>
            <a:r>
              <a:rPr b="0" sz="1300">
                <a:solidFill>
                  <a:srgbClr val="60A5FA"/>
                </a:solidFill>
                <a:latin typeface="Segoe UI"/>
              </a:rPr>
              <a:t>•  </a:t>
            </a:r>
            <a:r>
              <a:rPr b="1" sz="1300">
                <a:solidFill>
                  <a:srgbClr val="E2E8F0"/>
                </a:solidFill>
                <a:latin typeface="Segoe UI"/>
              </a:rPr>
              <a:t>4. Viabilidad con Código Abierto: </a:t>
            </a:r>
            <a:r>
              <a:rPr b="0" sz="1300">
                <a:solidFill>
                  <a:srgbClr val="94A3B8"/>
                </a:solidFill>
                <a:latin typeface="Segoe UI"/>
              </a:rPr>
              <a:t>Mediante contenedores y herramientas open source (PostgreSQL, Loki, Grafana), es factible desplegar una plataforma de resiliencia y monitoreo de nivel corporativo con costo de infraestructura nulo.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