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60A5FA"/>
                </a:solidFill>
                <a:latin typeface="Segoe UI"/>
              </a:defRPr>
            </a:pPr>
            <a:r>
              <a:t>ALMACENAMIENTO Y MINERÍA DE DATOS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106984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F8FAFC"/>
                </a:solidFill>
                <a:latin typeface="Segoe UI"/>
              </a:defRPr>
            </a:pPr>
            <a:r>
              <a:t>Backups, Telemetría y Optimización SQL</a:t>
            </a:r>
          </a:p>
          <a:p>
            <a:pPr>
              <a:spcBef>
                <a:spcPts val="800"/>
              </a:spcBef>
              <a:defRPr sz="1600">
                <a:solidFill>
                  <a:srgbClr val="94A3B8"/>
                </a:solidFill>
                <a:latin typeface="Segoe UI"/>
              </a:defRPr>
            </a:pPr>
            <a:r>
              <a:t>Arquitectura Desacoplada, Resiliencia y Análisis de Rendimiento en Bases de Datos Relacionales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4114800"/>
            <a:ext cx="5120640" cy="19202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4279392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0A5FA"/>
                </a:solidFill>
                <a:latin typeface="Segoe UI"/>
              </a:defRPr>
            </a:pPr>
            <a:r>
              <a:t>Marco del Proyecto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4663440"/>
            <a:ext cx="46634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Nivel Académico: </a:t>
            </a:r>
            <a:r>
              <a:rPr b="0" sz="1200">
                <a:solidFill>
                  <a:srgbClr val="94A3B8"/>
                </a:solidFill>
                <a:latin typeface="Segoe UI"/>
              </a:rPr>
              <a:t>8vo Ciclo de Ingeniería de Sistemas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Paradigma: </a:t>
            </a:r>
            <a:r>
              <a:rPr b="0" sz="1200">
                <a:solidFill>
                  <a:srgbClr val="94A3B8"/>
                </a:solidFill>
                <a:latin typeface="Segoe UI"/>
              </a:rPr>
              <a:t>Infraestructura como Código (IaC) con Docker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Motor: </a:t>
            </a:r>
            <a:r>
              <a:rPr b="0" sz="1200">
                <a:solidFill>
                  <a:srgbClr val="94A3B8"/>
                </a:solidFill>
                <a:latin typeface="Segoe UI"/>
              </a:rPr>
              <a:t>PostgreSQL 16 Enterprise con Telemetría Desacoplada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4114800"/>
            <a:ext cx="5212080" cy="19202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4279392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0A5FA"/>
                </a:solidFill>
                <a:latin typeface="Segoe UI"/>
              </a:defRPr>
            </a:pPr>
            <a:r>
              <a:t>Equipo de Investigación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4663440"/>
            <a:ext cx="47548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Integrantes: </a:t>
            </a:r>
            <a:r>
              <a:rPr b="0" sz="1200">
                <a:solidFill>
                  <a:srgbClr val="94A3B8"/>
                </a:solidFill>
                <a:latin typeface="Segoe UI"/>
              </a:rPr>
              <a:t>Zaid San Lucas y equipo de proyecto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Áreas de Demostración: </a:t>
            </a:r>
            <a:r>
              <a:rPr b="0" sz="1200">
                <a:solidFill>
                  <a:srgbClr val="94A3B8"/>
                </a:solidFill>
                <a:latin typeface="Segoe UI"/>
              </a:rPr>
              <a:t>Respaldo continuo, observabilidad y afinamiento SQL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Entorno de Pruebas: </a:t>
            </a:r>
            <a:r>
              <a:rPr b="0" sz="1200">
                <a:solidFill>
                  <a:srgbClr val="94A3B8"/>
                </a:solidFill>
                <a:latin typeface="Segoe UI"/>
              </a:rPr>
              <a:t>Contenedores aislados y reproducibles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0A5FA"/>
                </a:solidFill>
                <a:latin typeface="Segoe UI"/>
              </a:defRPr>
            </a:pPr>
            <a:r>
              <a:t>CONTEXTO Y DESAFÍOS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Segoe UI"/>
              </a:defRPr>
            </a:pPr>
            <a:r>
              <a:t>¿Por qué fallan las bases de datos en producción?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329184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73352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0A5FA"/>
                </a:solidFill>
                <a:latin typeface="Segoe UI"/>
              </a:defRPr>
            </a:pPr>
            <a:r>
              <a:t>1. Pérdida Crítica de Datos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03120"/>
            <a:ext cx="29260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Riesgo Operativo: </a:t>
            </a:r>
            <a:r>
              <a:rPr b="0" sz="1200">
                <a:solidFill>
                  <a:srgbClr val="94A3B8"/>
                </a:solidFill>
                <a:latin typeface="Segoe UI"/>
              </a:rPr>
              <a:t>Fallas físicas de disco, corrupción o sentencias destructivas accidentales.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Limitación Tradicional: </a:t>
            </a:r>
            <a:r>
              <a:rPr b="0" sz="1200">
                <a:solidFill>
                  <a:srgbClr val="94A3B8"/>
                </a:solidFill>
                <a:latin typeface="Segoe UI"/>
              </a:rPr>
              <a:t>Los backups lógicos diarios dejan ventanas de pérdida de varias horas.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Objetivo: </a:t>
            </a:r>
            <a:r>
              <a:rPr b="0" sz="1200">
                <a:solidFill>
                  <a:srgbClr val="94A3B8"/>
                </a:solidFill>
                <a:latin typeface="Segoe UI"/>
              </a:rPr>
              <a:t>Alcanzar un RPO cercano a cero mediante la captura continua de transacciones.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508760"/>
            <a:ext cx="329184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7720" y="1673352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0A5FA"/>
                </a:solidFill>
                <a:latin typeface="Segoe UI"/>
              </a:defRPr>
            </a:pPr>
            <a:r>
              <a:t>2. Saturación por Logs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103120"/>
            <a:ext cx="29260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La Paradoja: </a:t>
            </a:r>
            <a:r>
              <a:rPr b="0" sz="1200">
                <a:solidFill>
                  <a:srgbClr val="94A3B8"/>
                </a:solidFill>
                <a:latin typeface="Segoe UI"/>
              </a:rPr>
              <a:t>Cada sentencia genera registros de auditoría y WAL; los logs crecen más rápido que las tablas.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Competencia de I/O: </a:t>
            </a:r>
            <a:r>
              <a:rPr b="0" sz="1200">
                <a:solidFill>
                  <a:srgbClr val="94A3B8"/>
                </a:solidFill>
                <a:latin typeface="Segoe UI"/>
              </a:rPr>
              <a:t>Almacenar logs en el mismo disco transaccional penaliza las consultas de clientes.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Objetivo: </a:t>
            </a:r>
            <a:r>
              <a:rPr b="0" sz="1200">
                <a:solidFill>
                  <a:srgbClr val="94A3B8"/>
                </a:solidFill>
                <a:latin typeface="Segoe UI"/>
              </a:rPr>
              <a:t>Desacoplar la ingesta hacia un servidor de observabilidad dedicado.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508760"/>
            <a:ext cx="33832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320" y="1673352"/>
            <a:ext cx="2926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0A5FA"/>
                </a:solidFill>
                <a:latin typeface="Segoe UI"/>
              </a:defRPr>
            </a:pPr>
            <a:r>
              <a:t>3. Latencia en Consultas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2103120"/>
            <a:ext cx="30175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Degradación: </a:t>
            </a:r>
            <a:r>
              <a:rPr b="0" sz="1200">
                <a:solidFill>
                  <a:srgbClr val="94A3B8"/>
                </a:solidFill>
                <a:latin typeface="Segoe UI"/>
              </a:rPr>
              <a:t>Tablas con cientos de miles de filas colapsan en memoria ante escaneos secuenciales.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Anti-patrones: </a:t>
            </a:r>
            <a:r>
              <a:rPr b="0" sz="1200">
                <a:solidFill>
                  <a:srgbClr val="94A3B8"/>
                </a:solidFill>
                <a:latin typeface="Segoe UI"/>
              </a:rPr>
              <a:t>Uso inadecuado de funciones en cláusulas WHERE que invalidan índices estándar.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Objetivo: </a:t>
            </a:r>
            <a:r>
              <a:rPr b="0" sz="1200">
                <a:solidFill>
                  <a:srgbClr val="94A3B8"/>
                </a:solidFill>
                <a:latin typeface="Segoe UI"/>
              </a:rPr>
              <a:t>Reducir latencias de 15ms a 0.1ms mediante árboles B-Tree y tuning asistido.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0A5FA"/>
                </a:solidFill>
                <a:latin typeface="Segoe UI"/>
              </a:defRPr>
            </a:pPr>
            <a:r>
              <a:t>INFRAESTRUCTURA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Segoe UI"/>
              </a:defRPr>
            </a:pPr>
            <a:r>
              <a:t>Arquitectura Desacoplada en Contenedores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52120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73352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0A5FA"/>
                </a:solidFill>
                <a:latin typeface="Segoe UI"/>
              </a:defRPr>
            </a:pPr>
            <a:r>
              <a:t>Topología de Servicios Aislados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057400"/>
            <a:ext cx="47548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db-primary (PostgreSQL 16): </a:t>
            </a:r>
            <a:r>
              <a:rPr b="0" sz="1200">
                <a:solidFill>
                  <a:srgbClr val="94A3B8"/>
                </a:solidFill>
                <a:latin typeface="Segoe UI"/>
              </a:rPr>
              <a:t>Motor transaccional central con 600,000 registros sintéticos y logging activo.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promtail-agent: </a:t>
            </a:r>
            <a:r>
              <a:rPr b="0" sz="1200">
                <a:solidFill>
                  <a:srgbClr val="94A3B8"/>
                </a:solidFill>
                <a:latin typeface="Segoe UI"/>
              </a:rPr>
              <a:t>Agente de recolección en streaming que lee logs continuos sin impactar el motor.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loki-server: </a:t>
            </a:r>
            <a:r>
              <a:rPr b="0" sz="1200">
                <a:solidFill>
                  <a:srgbClr val="94A3B8"/>
                </a:solidFill>
                <a:latin typeface="Segoe UI"/>
              </a:rPr>
              <a:t>Servidor desacoplado especializado en la indexación comprimida de telemetría.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grafana-dashboard: </a:t>
            </a:r>
            <a:r>
              <a:rPr b="0" sz="1200">
                <a:solidFill>
                  <a:srgbClr val="94A3B8"/>
                </a:solidFill>
                <a:latin typeface="Segoe UI"/>
              </a:rPr>
              <a:t>Capa visual para monitoreo de QPS, errores y rendimiento en tiempo real.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backup_storage: </a:t>
            </a:r>
            <a:r>
              <a:rPr b="0" sz="1200">
                <a:solidFill>
                  <a:srgbClr val="94A3B8"/>
                </a:solidFill>
                <a:latin typeface="Segoe UI"/>
              </a:rPr>
              <a:t>Volumen de almacenamiento aislado para dumps completos y archivos WAL.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08760"/>
            <a:ext cx="52120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673352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0A5FA"/>
                </a:solidFill>
                <a:latin typeface="Segoe UI"/>
              </a:defRPr>
            </a:pPr>
            <a:r>
              <a:t>Criterios de Diseño Arquitectónico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2057400"/>
            <a:ext cx="47548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Aislamiento de I/O: </a:t>
            </a:r>
            <a:r>
              <a:rPr b="0" sz="1200">
                <a:solidFill>
                  <a:srgbClr val="94A3B8"/>
                </a:solidFill>
                <a:latin typeface="Segoe UI"/>
              </a:rPr>
              <a:t>Las consultas de análisis de logs no consumen el ancho de banda del almacenamiento transaccional.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Análisis Post-Mortem: </a:t>
            </a:r>
            <a:r>
              <a:rPr b="0" sz="1200">
                <a:solidFill>
                  <a:srgbClr val="94A3B8"/>
                </a:solidFill>
                <a:latin typeface="Segoe UI"/>
              </a:rPr>
              <a:t>Si la base de datos se detiene o sufre corrupción, los registros de auditoría siguen accesibles en Loki.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Cero Presupuesto: </a:t>
            </a:r>
            <a:r>
              <a:rPr b="0" sz="1200">
                <a:solidFill>
                  <a:srgbClr val="94A3B8"/>
                </a:solidFill>
                <a:latin typeface="Segoe UI"/>
              </a:rPr>
              <a:t>Implementación 100% libre de costos de nube, totalmente reproducible en cualquier equipo con Docker.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Consistencia: </a:t>
            </a:r>
            <a:r>
              <a:rPr b="0" sz="1200">
                <a:solidFill>
                  <a:srgbClr val="94A3B8"/>
                </a:solidFill>
                <a:latin typeface="Segoe UI"/>
              </a:rPr>
              <a:t>Configuraciones predefinidas en código evitan inconsistencias entre entornos de desarrollo.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0A5FA"/>
                </a:solidFill>
                <a:latin typeface="Segoe UI"/>
              </a:defRPr>
            </a:pPr>
            <a:r>
              <a:t>MECANISMOS DE RECUPERACIÓN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Segoe UI"/>
              </a:defRPr>
            </a:pPr>
            <a:r>
              <a:t>Estrategias de Backup: Totales, Incrementales y Diferenciales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502920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7335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0A5FA"/>
                </a:solidFill>
                <a:latin typeface="Segoe UI"/>
              </a:defRPr>
            </a:pPr>
            <a:r>
              <a:t>Fundamentos de Respaldo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057400"/>
            <a:ext cx="45720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Backup Total (Full): </a:t>
            </a:r>
            <a:r>
              <a:rPr b="0" sz="1200">
                <a:solidFill>
                  <a:srgbClr val="94A3B8"/>
                </a:solidFill>
                <a:latin typeface="Segoe UI"/>
              </a:rPr>
              <a:t>Copia completa de estructuras y datos. Base indispensable para cualquier esquema de contingencia.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Backup Incremental: </a:t>
            </a:r>
            <a:r>
              <a:rPr b="0" sz="1200">
                <a:solidFill>
                  <a:srgbClr val="94A3B8"/>
                </a:solidFill>
                <a:latin typeface="Segoe UI"/>
              </a:rPr>
              <a:t>Almacena únicamente las modificaciones ocurridas desde el respaldo previo más reciente.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Backup Diferencial: </a:t>
            </a:r>
            <a:r>
              <a:rPr b="0" sz="1200">
                <a:solidFill>
                  <a:srgbClr val="94A3B8"/>
                </a:solidFill>
                <a:latin typeface="Segoe UI"/>
              </a:rPr>
              <a:t>Acumula todas las variaciones producidas desde el último Backup Total registrado.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Métrica RPO: </a:t>
            </a:r>
            <a:r>
              <a:rPr b="0" sz="1200">
                <a:solidFill>
                  <a:srgbClr val="94A3B8"/>
                </a:solidFill>
                <a:latin typeface="Segoe UI"/>
              </a:rPr>
              <a:t>Objetivo de Punto de Recuperación; define el volumen máximo de transacciones que la organización tolera perder.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Métrica RTO: </a:t>
            </a:r>
            <a:r>
              <a:rPr b="0" sz="1200">
                <a:solidFill>
                  <a:srgbClr val="94A3B8"/>
                </a:solidFill>
                <a:latin typeface="Segoe UI"/>
              </a:rPr>
              <a:t>Objetivo de Tiempo de Recuperación; plazo admisible para restablecer la operatividad normal.</a:t>
            </a:r>
          </a:p>
        </p:txBody>
      </p:sp>
      <p:pic>
        <p:nvPicPr>
          <p:cNvPr id="8" name="Picture 7" descr="grafico_tipos_backu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645920"/>
            <a:ext cx="5394960" cy="337185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0A5FA"/>
                </a:solidFill>
                <a:latin typeface="Segoe UI"/>
              </a:defRPr>
            </a:pPr>
            <a:r>
              <a:t>VALIDACIÓN PRÁCTICA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Segoe UI"/>
              </a:defRPr>
            </a:pPr>
            <a:r>
              <a:t>Simulación de Pérdida de Datos y Restauración de Contingencia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52120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73352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0A5FA"/>
                </a:solidFill>
                <a:latin typeface="Segoe UI"/>
              </a:defRPr>
            </a:pPr>
            <a:r>
              <a:t>Procedimiento de la Prueba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057400"/>
            <a:ext cx="47548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Fase 1 (Respaldo Base): </a:t>
            </a:r>
            <a:r>
              <a:rPr b="0" sz="1200">
                <a:solidFill>
                  <a:srgbClr val="94A3B8"/>
                </a:solidFill>
                <a:latin typeface="Segoe UI"/>
              </a:rPr>
              <a:t>Generación de dump binario comprimido de 13 MB mediante pg_dump en 5.2 segundos.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Fase 2 (Transacción Crítica): </a:t>
            </a:r>
            <a:r>
              <a:rPr b="0" sz="1200">
                <a:solidFill>
                  <a:srgbClr val="94A3B8"/>
                </a:solidFill>
                <a:latin typeface="Segoe UI"/>
              </a:rPr>
              <a:t>Registro de movimientos financieros de última hora posteriores al backup base.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Fase 3 (Desastre Simulado): </a:t>
            </a:r>
            <a:r>
              <a:rPr b="0" sz="1200">
                <a:solidFill>
                  <a:srgbClr val="94A3B8"/>
                </a:solidFill>
                <a:latin typeface="Segoe UI"/>
              </a:rPr>
              <a:t>Ejecución de sentencia destructiva accidental: DROP TABLE transacciones CASCADE.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Fase 4 (Verificación de Pérdida): </a:t>
            </a:r>
            <a:r>
              <a:rPr b="0" sz="1200">
                <a:solidFill>
                  <a:srgbClr val="94A3B8"/>
                </a:solidFill>
                <a:latin typeface="Segoe UI"/>
              </a:rPr>
              <a:t>Consulta de catálogo donde se constata la indisponibilidad total de la información.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Fase 5 (Restauración Exitosa): </a:t>
            </a:r>
            <a:r>
              <a:rPr b="0" sz="1200">
                <a:solidFill>
                  <a:srgbClr val="94A3B8"/>
                </a:solidFill>
                <a:latin typeface="Segoe UI"/>
              </a:rPr>
              <a:t>Ejecución de procedimiento de contingencia recuperando las 600,000 filas en 6 segundos.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08760"/>
            <a:ext cx="52120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673352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0A5FA"/>
                </a:solidFill>
                <a:latin typeface="Segoe UI"/>
              </a:defRPr>
            </a:pPr>
            <a:r>
              <a:t>Mecanismo Interno: WAL y LSN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2057400"/>
            <a:ext cx="47548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Write-Ahead Logging: </a:t>
            </a:r>
            <a:r>
              <a:rPr b="0" sz="1200">
                <a:solidFill>
                  <a:srgbClr val="94A3B8"/>
                </a:solidFill>
                <a:latin typeface="Segoe UI"/>
              </a:rPr>
              <a:t>Ningún cambio se escribe en las páginas de datos sin haber sido persistido antes en el WAL.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Log Sequence Number (LSN): </a:t>
            </a:r>
            <a:r>
              <a:rPr b="0" sz="1200">
                <a:solidFill>
                  <a:srgbClr val="94A3B8"/>
                </a:solidFill>
                <a:latin typeface="Segoe UI"/>
              </a:rPr>
              <a:t>Identificador único y secuencial asignado a cada transacción en el sistema.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Archivado Activo: </a:t>
            </a:r>
            <a:r>
              <a:rPr b="0" sz="1200">
                <a:solidFill>
                  <a:srgbClr val="94A3B8"/>
                </a:solidFill>
                <a:latin typeface="Segoe UI"/>
              </a:rPr>
              <a:t>PostgreSQL segmenta el log en ficheros de 16 MB y los transfiere de forma segura a storage aislado.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Point-In-Time Recovery (PITR): </a:t>
            </a:r>
            <a:r>
              <a:rPr b="0" sz="1200">
                <a:solidFill>
                  <a:srgbClr val="94A3B8"/>
                </a:solidFill>
                <a:latin typeface="Segoe UI"/>
              </a:rPr>
              <a:t>Permite reproducir la secuencia de transacciones hasta el segundo exacto previo a la falla.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0A5FA"/>
                </a:solidFill>
                <a:latin typeface="Segoe UI"/>
              </a:defRPr>
            </a:pPr>
            <a:r>
              <a:t>OBSERVABILIDAD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Segoe UI"/>
              </a:defRPr>
            </a:pPr>
            <a:r>
              <a:t>Telemetría de Consultas y Almacenamiento Centralizado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52120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73352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0A5FA"/>
                </a:solidFill>
                <a:latin typeface="Segoe UI"/>
              </a:defRPr>
            </a:pPr>
            <a:r>
              <a:t>Dimensiones de la Telemetría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057400"/>
            <a:ext cx="47548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Más allá del Hardware: </a:t>
            </a:r>
            <a:r>
              <a:rPr b="0" sz="1200">
                <a:solidFill>
                  <a:srgbClr val="94A3B8"/>
                </a:solidFill>
                <a:latin typeface="Segoe UI"/>
              </a:rPr>
              <a:t>No se limita al uso de CPU o memoria; audita cada sentencia ejecutada por clientes y aplicaciones.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Throughput (QPS): </a:t>
            </a:r>
            <a:r>
              <a:rPr b="0" sz="1200">
                <a:solidFill>
                  <a:srgbClr val="94A3B8"/>
                </a:solidFill>
                <a:latin typeface="Segoe UI"/>
              </a:rPr>
              <a:t>Mide el volumen de operaciones por segundo y detecta picos de demanda inusuales.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Composición DML: </a:t>
            </a:r>
            <a:r>
              <a:rPr b="0" sz="1200">
                <a:solidFill>
                  <a:srgbClr val="94A3B8"/>
                </a:solidFill>
                <a:latin typeface="Segoe UI"/>
              </a:rPr>
              <a:t>Distribución entre consultas de lectura (SELECT) y operaciones de escritura (INSERT, UPDATE).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Alertas Tempranas: </a:t>
            </a:r>
            <a:r>
              <a:rPr b="0" sz="1200">
                <a:solidFill>
                  <a:srgbClr val="94A3B8"/>
                </a:solidFill>
                <a:latin typeface="Segoe UI"/>
              </a:rPr>
              <a:t>Identificación inmediata de bloqueos (locks), transacciones canceladas y rollbacks.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08760"/>
            <a:ext cx="52120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673352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0A5FA"/>
                </a:solidFill>
                <a:latin typeface="Segoe UI"/>
              </a:defRPr>
            </a:pPr>
            <a:r>
              <a:t>Eficiencia de Grafana Loki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2057400"/>
            <a:ext cx="47548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Indexación por Metadatos: </a:t>
            </a:r>
            <a:r>
              <a:rPr b="0" sz="1200">
                <a:solidFill>
                  <a:srgbClr val="94A3B8"/>
                </a:solidFill>
                <a:latin typeface="Segoe UI"/>
              </a:rPr>
              <a:t>A diferencia de motores convencionales, Loki solo indexa etiquetas; reduce el consumo de RAM hasta un 90%.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Consumo No Invasivo: </a:t>
            </a:r>
            <a:r>
              <a:rPr b="0" sz="1200">
                <a:solidFill>
                  <a:srgbClr val="94A3B8"/>
                </a:solidFill>
                <a:latin typeface="Segoe UI"/>
              </a:rPr>
              <a:t>Promtail recopila logs en streaming sin abrir bloqueos de tabla ni interferir en sesiones activas.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Visibilidad Central: </a:t>
            </a:r>
            <a:r>
              <a:rPr b="0" sz="1200">
                <a:solidFill>
                  <a:srgbClr val="94A3B8"/>
                </a:solidFill>
                <a:latin typeface="Segoe UI"/>
              </a:rPr>
              <a:t>Dashboards dinámicos permiten correlacionar latencias de consultas con eventos del motor.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Retención Independiente: </a:t>
            </a:r>
            <a:r>
              <a:rPr b="0" sz="1200">
                <a:solidFill>
                  <a:srgbClr val="94A3B8"/>
                </a:solidFill>
                <a:latin typeface="Segoe UI"/>
              </a:rPr>
              <a:t>Políticas de archivado de logs sin comprometer el ciclo de vida de los datos transaccionales.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0A5FA"/>
                </a:solidFill>
                <a:latin typeface="Segoe UI"/>
              </a:defRPr>
            </a:pPr>
            <a:r>
              <a:t>DIAGNÓSTICO EXPERIMENTAL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Segoe UI"/>
              </a:defRPr>
            </a:pPr>
            <a:r>
              <a:t>Comportamiento del Almacenamiento: Datos vs Logs Transaccionales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502920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7335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0A5FA"/>
                </a:solidFill>
                <a:latin typeface="Segoe UI"/>
              </a:defRPr>
            </a:pPr>
            <a:r>
              <a:t>Hallazgos de la Simulación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057400"/>
            <a:ext cx="45720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Condición de Prueba: </a:t>
            </a:r>
            <a:r>
              <a:rPr b="0" sz="1200">
                <a:solidFill>
                  <a:srgbClr val="94A3B8"/>
                </a:solidFill>
                <a:latin typeface="Segoe UI"/>
              </a:rPr>
              <a:t>Ejecución continua de 500 sentencias UPDATE consecutivas sobre una única fila de saldo.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Resultado en Tablas: </a:t>
            </a:r>
            <a:r>
              <a:rPr b="0" sz="1200">
                <a:solidFill>
                  <a:srgbClr val="94A3B8"/>
                </a:solidFill>
                <a:latin typeface="Segoe UI"/>
              </a:rPr>
              <a:t>El tamaño físico de la tabla en disco se mantiene invariable (~12.1 MB).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Resultado en Logs: </a:t>
            </a:r>
            <a:r>
              <a:rPr b="0" sz="1200">
                <a:solidFill>
                  <a:srgbClr val="94A3B8"/>
                </a:solidFill>
                <a:latin typeface="Segoe UI"/>
              </a:rPr>
              <a:t>Se emitieron 500 registros WAL de 16 MB y cientos de entradas de auditoría hacia Loki.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Conclusión Crítica: </a:t>
            </a:r>
            <a:r>
              <a:rPr b="0" sz="1200">
                <a:solidFill>
                  <a:srgbClr val="94A3B8"/>
                </a:solidFill>
                <a:latin typeface="Segoe UI"/>
              </a:rPr>
              <a:t>El almacenamiento de logs crece en función de la actividad operativa, no del número de filas.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Principio Rector: </a:t>
            </a:r>
            <a:r>
              <a:rPr b="0" sz="1200">
                <a:solidFill>
                  <a:srgbClr val="94A3B8"/>
                </a:solidFill>
                <a:latin typeface="Segoe UI"/>
              </a:rPr>
              <a:t>La separación de discos e instancias de log es indispensable para evitar incidentes por disco lleno.</a:t>
            </a:r>
          </a:p>
        </p:txBody>
      </p:sp>
      <p:pic>
        <p:nvPicPr>
          <p:cNvPr id="8" name="Picture 7" descr="grafico_paradoja_log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645920"/>
            <a:ext cx="5394960" cy="337185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0A5FA"/>
                </a:solidFill>
                <a:latin typeface="Segoe UI"/>
              </a:defRPr>
            </a:pPr>
            <a:r>
              <a:t>AFINAMIENTO DE RENDIMIENTO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Segoe UI"/>
              </a:defRPr>
            </a:pPr>
            <a:r>
              <a:t>Análisis de Planes de Ejecución y Métricas de E/S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52120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73352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0A5FA"/>
                </a:solidFill>
                <a:latin typeface="Segoe UI"/>
              </a:defRPr>
            </a:pPr>
            <a:r>
              <a:t>Fundamentos de EXPLAIN ANALYZE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057400"/>
            <a:ext cx="47548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Tiempo de Ejecución: </a:t>
            </a:r>
            <a:r>
              <a:rPr b="0" sz="1200">
                <a:solidFill>
                  <a:srgbClr val="94A3B8"/>
                </a:solidFill>
                <a:latin typeface="Segoe UI"/>
              </a:rPr>
              <a:t>Medición cronométrica real del procesamiento interno en el motor de la base de datos.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Buffers (Hit vs Read): </a:t>
            </a:r>
            <a:r>
              <a:rPr b="0" sz="1200">
                <a:solidFill>
                  <a:srgbClr val="94A3B8"/>
                </a:solidFill>
                <a:latin typeface="Segoe UI"/>
              </a:rPr>
              <a:t>Hit indica lectura directa en memoria RAM; Read representa lectura física de disco (cuello de botella de E/S).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Sequential Scan (Seq Scan): </a:t>
            </a:r>
            <a:r>
              <a:rPr b="0" sz="1200">
                <a:solidFill>
                  <a:srgbClr val="94A3B8"/>
                </a:solidFill>
                <a:latin typeface="Segoe UI"/>
              </a:rPr>
              <a:t>Recorrido exhaustivo de cada página de la tabla. Ineficiente para búsquedas selectivas sobre grandes volúmenes.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Index Scan: </a:t>
            </a:r>
            <a:r>
              <a:rPr b="0" sz="1200">
                <a:solidFill>
                  <a:srgbClr val="94A3B8"/>
                </a:solidFill>
                <a:latin typeface="Segoe UI"/>
              </a:rPr>
              <a:t>Acceso selectivo mediante estructuras balanceadas B-Tree con complejidad logarítmica O(log N).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08760"/>
            <a:ext cx="52120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673352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0A5FA"/>
                </a:solidFill>
                <a:latin typeface="Segoe UI"/>
              </a:defRPr>
            </a:pPr>
            <a:r>
              <a:t>Técnicas de Indexación Aplicadas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2057400"/>
            <a:ext cx="47548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Índice B-Tree Único: </a:t>
            </a:r>
            <a:r>
              <a:rPr b="0" sz="1200">
                <a:solidFill>
                  <a:srgbClr val="94A3B8"/>
                </a:solidFill>
                <a:latin typeface="Segoe UI"/>
              </a:rPr>
              <a:t>Búsqueda directa por documento de identidad; evita el escaneo de 100,000 filas.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Índice Compuesto Multicolumna: </a:t>
            </a:r>
            <a:r>
              <a:rPr b="0" sz="1200">
                <a:solidFill>
                  <a:srgbClr val="94A3B8"/>
                </a:solidFill>
                <a:latin typeface="Segoe UI"/>
              </a:rPr>
              <a:t>Indexación simultánea de cuenta y fecha; elimina la necesidad de ordenamiento en memoria (Sort).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Índice Basado en Expresiones: </a:t>
            </a:r>
            <a:r>
              <a:rPr b="0" sz="1200">
                <a:solidFill>
                  <a:srgbClr val="94A3B8"/>
                </a:solidFill>
                <a:latin typeface="Segoe UI"/>
              </a:rPr>
              <a:t>Creación sobre funciones de transformación (ej. LOWER); neutraliza anti-patrones en el WHERE.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Auditoría con pg_stat_statements: </a:t>
            </a:r>
            <a:r>
              <a:rPr b="0" sz="1200">
                <a:solidFill>
                  <a:srgbClr val="94A3B8"/>
                </a:solidFill>
                <a:latin typeface="Segoe UI"/>
              </a:rPr>
              <a:t>Inspección acumulada para identificar las 10 consultas más lentas del sistema global.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0A5FA"/>
                </a:solidFill>
                <a:latin typeface="Segoe UI"/>
              </a:defRPr>
            </a:pPr>
            <a:r>
              <a:t>RESULTADOS COMPARATIVOS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Segoe UI"/>
              </a:defRPr>
            </a:pPr>
            <a:r>
              <a:t>Impacto de la Optimización: De Sequential Scan a Index Scan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502920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7335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0A5FA"/>
                </a:solidFill>
                <a:latin typeface="Segoe UI"/>
              </a:defRPr>
            </a:pPr>
            <a:r>
              <a:t>Métricas de Desempeño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057400"/>
            <a:ext cx="45720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Caso 1 (Búsqueda por DNI): </a:t>
            </a:r>
            <a:r>
              <a:rPr b="0" sz="1200">
                <a:solidFill>
                  <a:srgbClr val="94A3B8"/>
                </a:solidFill>
                <a:latin typeface="Segoe UI"/>
              </a:rPr>
              <a:t>La latencia se redujo de 13.71 ms a 0.12 ms; las lecturas pasaron de 1,301 bloques a solo 4 bloques (mejora &gt;110x).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Caso 2 (Cuentas y Fechas): </a:t>
            </a:r>
            <a:r>
              <a:rPr b="0" sz="1200">
                <a:solidFill>
                  <a:srgbClr val="94A3B8"/>
                </a:solidFill>
                <a:latin typeface="Segoe UI"/>
              </a:rPr>
              <a:t>El índice compuesto evitó el Quicksort sobre 400k filas; la latencia se redujo de 391.04 ms a 0.10 ms (mejora &gt;3,900x).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Caso 3 (Uso de LOWER): </a:t>
            </a:r>
            <a:r>
              <a:rPr b="0" sz="1200">
                <a:solidFill>
                  <a:srgbClr val="94A3B8"/>
                </a:solidFill>
                <a:latin typeface="Segoe UI"/>
              </a:rPr>
              <a:t>El índice funcional resolvió la invalidación del índice estándar, reduciendo el tiempo de 71.17 ms a 0.72 ms (mejora &gt;95x).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Eficiencia General: </a:t>
            </a:r>
            <a:r>
              <a:rPr b="0" sz="1200">
                <a:solidFill>
                  <a:srgbClr val="94A3B8"/>
                </a:solidFill>
                <a:latin typeface="Segoe UI"/>
              </a:rPr>
              <a:t>Menor contención de memoria compartida y liberación inmediata de conexiones en el pool.</a:t>
            </a:r>
          </a:p>
        </p:txBody>
      </p:sp>
      <p:pic>
        <p:nvPicPr>
          <p:cNvPr id="8" name="Picture 7" descr="grafico_optimizacion_bench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645920"/>
            <a:ext cx="5394960" cy="337185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0A5FA"/>
                </a:solidFill>
                <a:latin typeface="Segoe UI"/>
              </a:defRPr>
            </a:pPr>
            <a:r>
              <a:t>METODOLOGÍA EXPERIMENTAL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Segoe UI"/>
              </a:defRPr>
            </a:pPr>
            <a:r>
              <a:t>Flujo Integrado de Demostración del Laboratorio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329184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73352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0A5FA"/>
                </a:solidFill>
                <a:latin typeface="Segoe UI"/>
              </a:defRPr>
            </a:pPr>
            <a:r>
              <a:t>Fase 1: Línea Base y Respaldo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03120"/>
            <a:ext cx="29260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Poblado Inicial: </a:t>
            </a:r>
            <a:r>
              <a:rPr b="0" sz="1200">
                <a:solidFill>
                  <a:srgbClr val="94A3B8"/>
                </a:solidFill>
                <a:latin typeface="Segoe UI"/>
              </a:rPr>
              <a:t>Generación masiva de 600,000 registros sintéticos en PostgreSQL mediante funciones de memoria.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Respaldo Completo: </a:t>
            </a:r>
            <a:r>
              <a:rPr b="0" sz="1200">
                <a:solidFill>
                  <a:srgbClr val="94A3B8"/>
                </a:solidFill>
                <a:latin typeface="Segoe UI"/>
              </a:rPr>
              <a:t>Ejecución de snapshot inicial en formato comprimido dentro del almacenamiento aislado.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Recuperación PITR: </a:t>
            </a:r>
            <a:r>
              <a:rPr b="0" sz="1200">
                <a:solidFill>
                  <a:srgbClr val="94A3B8"/>
                </a:solidFill>
                <a:latin typeface="Segoe UI"/>
              </a:rPr>
              <a:t>Simulación de incidente destructivo y validación de consistencia transaccional tras restaurar.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508760"/>
            <a:ext cx="329184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7720" y="1673352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0A5FA"/>
                </a:solidFill>
                <a:latin typeface="Segoe UI"/>
              </a:defRPr>
            </a:pPr>
            <a:r>
              <a:t>Fase 2: Telemetría y Carga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103120"/>
            <a:ext cx="29260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Inyección Concurrente: </a:t>
            </a:r>
            <a:r>
              <a:rPr b="0" sz="1200">
                <a:solidFill>
                  <a:srgbClr val="94A3B8"/>
                </a:solidFill>
                <a:latin typeface="Segoe UI"/>
              </a:rPr>
              <a:t>Simulación de tráfico transaccional continuo (lecturas, transferencias y rollbacks).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Transmisión en Streaming: </a:t>
            </a:r>
            <a:r>
              <a:rPr b="0" sz="1200">
                <a:solidFill>
                  <a:srgbClr val="94A3B8"/>
                </a:solidFill>
                <a:latin typeface="Segoe UI"/>
              </a:rPr>
              <a:t>Captura en tiempo real de eventos con Promtail hacia el repositorio de Loki.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Monitoreo en Vivo: </a:t>
            </a:r>
            <a:r>
              <a:rPr b="0" sz="1200">
                <a:solidFill>
                  <a:srgbClr val="94A3B8"/>
                </a:solidFill>
                <a:latin typeface="Segoe UI"/>
              </a:rPr>
              <a:t>Inspección de curvas de QPS, patrones de escritura y registro de errores en Grafana.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508760"/>
            <a:ext cx="33832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320" y="1673352"/>
            <a:ext cx="2926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0A5FA"/>
                </a:solidFill>
                <a:latin typeface="Segoe UI"/>
              </a:defRPr>
            </a:pPr>
            <a:r>
              <a:t>Fase 3: Diagnóstico y Tuning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2103120"/>
            <a:ext cx="30175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Detección de Cuellos: </a:t>
            </a:r>
            <a:r>
              <a:rPr b="0" sz="1200">
                <a:solidFill>
                  <a:srgbClr val="94A3B8"/>
                </a:solidFill>
                <a:latin typeface="Segoe UI"/>
              </a:rPr>
              <a:t>Identificación de sentencias costosas reportadas por telemetría y pg_stat_statements.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Análisis de Planes: </a:t>
            </a:r>
            <a:r>
              <a:rPr b="0" sz="1200">
                <a:solidFill>
                  <a:srgbClr val="94A3B8"/>
                </a:solidFill>
                <a:latin typeface="Segoe UI"/>
              </a:rPr>
              <a:t>Evaluación de costos y lecturas de bloques de disco mediante EXPLAIN ANALYZE.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Verificación de Índices: </a:t>
            </a:r>
            <a:r>
              <a:rPr b="0" sz="1200">
                <a:solidFill>
                  <a:srgbClr val="94A3B8"/>
                </a:solidFill>
                <a:latin typeface="Segoe UI"/>
              </a:rPr>
              <a:t>Constatación inmediata de la caída drástica en la latencia tras crear las estructuras.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0A5FA"/>
                </a:solidFill>
                <a:latin typeface="Segoe UI"/>
              </a:defRPr>
            </a:pPr>
            <a:r>
              <a:t>SÍNTESIS EJECUTIVA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Segoe UI"/>
              </a:defRPr>
            </a:pPr>
            <a:r>
              <a:t>Conclusiones y Recomendaciones de Arquitectura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106984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73352"/>
            <a:ext cx="10241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0A5FA"/>
                </a:solidFill>
                <a:latin typeface="Segoe UI"/>
              </a:defRPr>
            </a:pPr>
            <a:r>
              <a:t>Principios Fundamentales para Entornos Empresariales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101498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3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300">
                <a:solidFill>
                  <a:srgbClr val="E2E8F0"/>
                </a:solidFill>
                <a:latin typeface="Segoe UI"/>
              </a:rPr>
              <a:t>1. Continuidad Operativa: </a:t>
            </a:r>
            <a:r>
              <a:rPr b="0" sz="1300">
                <a:solidFill>
                  <a:srgbClr val="94A3B8"/>
                </a:solidFill>
                <a:latin typeface="Segoe UI"/>
              </a:rPr>
              <a:t>Los respaldos estáticos son insuficientes para sistemas de alta disponibilidad; el archivado continuo de transacciones (WAL) es indispensable para minimizar el RPO ante contingencias críticas.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3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300">
                <a:solidFill>
                  <a:srgbClr val="E2E8F0"/>
                </a:solidFill>
                <a:latin typeface="Segoe UI"/>
              </a:rPr>
              <a:t>2. Aislamiento de Observabilidad: </a:t>
            </a:r>
            <a:r>
              <a:rPr b="0" sz="1300">
                <a:solidFill>
                  <a:srgbClr val="94A3B8"/>
                </a:solidFill>
                <a:latin typeface="Segoe UI"/>
              </a:rPr>
              <a:t>La telemetría genera un volumen de datos superior al del propio negocio; su desacoplamiento a servidores dedicados (Loki) salvaguarda el rendimiento de disco y la CPU de producción.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3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300">
                <a:solidFill>
                  <a:srgbClr val="E2E8F0"/>
                </a:solidFill>
                <a:latin typeface="Segoe UI"/>
              </a:rPr>
              <a:t>3. Diagnóstico Científico: </a:t>
            </a:r>
            <a:r>
              <a:rPr b="0" sz="1300">
                <a:solidFill>
                  <a:srgbClr val="94A3B8"/>
                </a:solidFill>
                <a:latin typeface="Segoe UI"/>
              </a:rPr>
              <a:t>La optimización de bases de datos requiere evidencia cuantitativa; la telemetría señala dónde ocurren las demoras, y el plan de ejecución revela las causas a nivel de bloques de almacenamiento.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3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300">
                <a:solidFill>
                  <a:srgbClr val="E2E8F0"/>
                </a:solidFill>
                <a:latin typeface="Segoe UI"/>
              </a:rPr>
              <a:t>4. Viabilidad con Código Abierto: </a:t>
            </a:r>
            <a:r>
              <a:rPr b="0" sz="1300">
                <a:solidFill>
                  <a:srgbClr val="94A3B8"/>
                </a:solidFill>
                <a:latin typeface="Segoe UI"/>
              </a:rPr>
              <a:t>Mediante contenedores y herramientas open source (PostgreSQL, Loki, Grafana), es factible desplegar una plataforma de resiliencia y monitoreo de nivel corporativo con costo de infraestructura nulo.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