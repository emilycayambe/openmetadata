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97280" cy="73152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</a:defRPr>
            </a:pPr>
            <a:r>
              <a:t>Backups, Telemetría y Optimización SQL</a:t>
            </a:r>
          </a:p>
          <a:p>
            <a:pPr>
              <a:spcBef>
                <a:spcPts val="1000"/>
              </a:spcBef>
              <a:defRPr sz="1800">
                <a:solidFill>
                  <a:srgbClr val="48CAE4"/>
                </a:solidFill>
              </a:defRPr>
            </a:pPr>
            <a:r>
              <a:t>Arquitectura Desacoplada, Resiliencia y Tuning en Bases de Datos Relacionales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1828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Materia y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A0AEC0"/>
                </a:solidFill>
              </a:defRPr>
            </a:pPr>
            <a:r>
              <a:t>•  Curso: Almacenamiento y Minería de Datos</a:t>
            </a:r>
          </a:p>
          <a:p>
            <a:pPr>
              <a:spcAft>
                <a:spcPts val="800"/>
              </a:spcAft>
              <a:defRPr sz="1200">
                <a:solidFill>
                  <a:srgbClr val="A0AEC0"/>
                </a:solidFill>
              </a:defRPr>
            </a:pPr>
            <a:r>
              <a:t>•  Ciclo: 8vo Ciclo Universitario</a:t>
            </a:r>
          </a:p>
          <a:p>
            <a:pPr>
              <a:spcAft>
                <a:spcPts val="800"/>
              </a:spcAft>
              <a:defRPr sz="1200">
                <a:solidFill>
                  <a:srgbClr val="A0AEC0"/>
                </a:solidFill>
              </a:defRPr>
            </a:pPr>
            <a:r>
              <a:t>•  Entorno: 100% Dockerizado &amp; Infraestructura como Código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828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Equipo de Expositores (3 Estudiantes)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66344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A0AEC0"/>
                </a:solidFill>
              </a:defRPr>
            </a:pPr>
            <a:r>
              <a:t>•  Estudiante 1: Resiliencia, Backups (Full/Incr/Diff) &amp; PITR</a:t>
            </a:r>
          </a:p>
          <a:p>
            <a:pPr>
              <a:spcAft>
                <a:spcPts val="800"/>
              </a:spcAft>
              <a:defRPr sz="1200">
                <a:solidFill>
                  <a:srgbClr val="A0AEC0"/>
                </a:solidFill>
              </a:defRPr>
            </a:pPr>
            <a:r>
              <a:t>•  Estudiante 2: Telemetría, Servidor Desacoplado &amp; Loki/Grafana</a:t>
            </a:r>
          </a:p>
          <a:p>
            <a:pPr>
              <a:spcAft>
                <a:spcPts val="800"/>
              </a:spcAft>
              <a:defRPr sz="1200">
                <a:solidFill>
                  <a:srgbClr val="A0AEC0"/>
                </a:solidFill>
              </a:defRPr>
            </a:pPr>
            <a:r>
              <a:t>•  Estudiante 3: Ingesta Masiva &amp; Optimización de Consultas 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1. PROBLEMÁTICA Y 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¿Por qué las bases de datos colapsan en producción?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1. Pérdida de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Desastres humanos (DROP TABLE accidental) o fallos de hardware.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Un backup diario (Full) no es suficiente: se pierden horas de transacciones.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Meta: RPO cercano a 0 segundos mediante archivado continuo (WAL).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291840" cy="43891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2. La Paradoja de los Logs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Cada sentencia genera logs de auditoría, locks y registros WAL.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Los logs crecen mucho más rápido que las tablas mismas.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Si compiten por disco e I/O en producción, el servidor colapsa por disco lleno.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83280" cy="43891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91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3. Degradación de Consultas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Con millones de registros, los escaneos secuenciales agotan la memoria RAM.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Falta de índices o anti-patrones con funciones (ej. LOWER).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Meta: Reducir tiempos de ejecución de 50ms a &lt;0.2ms usando B-Tree y planes óptimos.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2. ARQUITECTURA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Laboratorio Desacoplado Multi-Contenedor (Docker)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Topología de Servicios Aislados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db-primary (PostgreSQL 16): Motor transaccional con 600,000 registros sintéticos y logging activo (log_statement='all').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promtail-agent: Agente ligero que extrae los logs en streaming sin consumir CPU del motor de BD.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loki-server: Servidor dedicado exclusivamente al almacenamiento y compresión de logs.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grafana-dashboard: Interfaz visual de telemetría en tiempo real (Puerto 3000).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backup_storage: Volumen montado independiente para aislar dumps y segmentos WAL de contingencia.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Principio de Aislamiento y Resiliencia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¿Por qué un servidor de logs separado?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1. No saturar el I/O del disco transaccional: Las consultas de analítica de logs no frenan a los clientes del banco.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2. Auditoría post-mortem: Si la base de datos se corrompe o se apaga, los logs permanecen a salvo en Loki para análisis forense.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3. Costo $0 y 100% reproducible: Levanta en cualquier laptop con un solo comando: 'docker compose up -d'.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3. MÓDULO DE RESILIENCIA (ESTUDIANTE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Estrategias de Backup: Totales, Incrementales y Diferenciales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Comparativa de Métodos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Backup Total (Full): Copia completa de esquema y datos (pg_dump comprimido). Es la base obligatoria de todo plan de recuperación.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Backup Incremental: Respalda SOLO los cambios ocurridos desde el último backup (vía segmentos WAL de 16MB). Menor espacio, pero requiere toda la cadena para restaurar.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Backup Diferencial: Respalda todos los cambios ocurridos desde el último Full. Restauración más rápida (Full + Último Diferencial).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RPO (Recovery Point Objective): Cantidad máxima de datos que la empresa tolera perder.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RTO (Recovery Time Objective): Tiempo máximo tolerado para volver a operar.</a:t>
            </a:r>
          </a:p>
        </p:txBody>
      </p:sp>
      <p:pic>
        <p:nvPicPr>
          <p:cNvPr id="9" name="Picture 8" descr="grafico_tipos_back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03520" cy="31005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3.1 DEMOSTRACIÓN EN VIVO (ESTUDIANTE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Simulación de Desastre y Restauración Point-in-Time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El Experimento en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Paso 1: Se ejecuta backup_full.ps1 generando un dump comprimido de 13 MB en 5.2 segundos.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Paso 2: Se inyecta una transacción de emergencia de alto valor.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Paso 3: Se simula un error catastrófico ejecutando: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  DROP TABLE transacciones CASCADE;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  DROP TABLE cuentas CASCADE;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Paso 4: Se demuestra que las tablas ya no existen.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Paso 5: Se ejecuta disaster_and_restore.ps1 restaurando las 600,000 filas de forma íntegra en ~6 segundos.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Concepto Clave: WAL y LSN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¿Cómo funciona el Write-Ahead Logging (WAL)?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1. Ningún dato se escribe en la tabla antes de haberse registrado en el log de transacciones (WAL).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2. Cada transacción tiene un LSN (Log Sequence Number) correlativo y monotónico.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3. Con WAL Archiving activo ('archive_mode=on'), cada bloque cerrado se envía al volumen seguro.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4. En un desastre, se aplica el Full Backup y se 'reproducen' los WALs hasta el segundo exacto previo al fallo.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4. MÓDULO DE OBSERVABILIDAD (ESTUDIANTE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Telemetría y Almacenamiento Desacoplado de Logs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¿Qué es la Telemetría de BD?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No es solo monitorear CPU o RAM: es capturar la huella de cada sentencia SQL individual.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Métricas capturadas en tiempo real: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• QPS (Queries per Second): Caudal transaccional.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• Desglose DML: Proporción de SELECT vs INSERT/UPDATE.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• Errores y Rollbacks: Detección proactiva de transacciones abortadas o violaciones de constraints.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• Latencia por sentencia: Detección inmediata de cuellos de botella.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El Stack Loki + Grafana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Grafana Loki es 'Prometheus para Logs':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1. No indexa el texto completo del log, solo indexa metadatos (labels), logrando que consuma 10 veces menos RAM que Elasticsearch.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2. Promtail lee el archivo postgresql.log en streaming constante sin bloquear la tabla ni la sesión activa.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3. Grafana muestra los paneles en vivo refrescándose cada 5 segundos frente a la clase.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4.1 DEMOSTRACIÓN EN VIVO (ESTUDIANTE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La Paradoja: Crecimiento de Logs vs Crecimiento de Tablas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Demostración de la Paradoja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Experimento: Se ejecutan 500 UPDATEs sobre una sola fila de saldo.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Resultado en Disco: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• La tabla 'cuentas' mide lo mismo: 12.1 MB.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• Pero se emitieron 500 registros WAL y 500 eventos en Loki.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Conclusión Arquitectónica: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Los logs crecen en función de la actividad transaccional, no del volumen de registros almacenados.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Si los logs se guardan en el servidor transaccional, el disco se llenará inevitablemente.</a:t>
            </a:r>
          </a:p>
        </p:txBody>
      </p:sp>
      <p:pic>
        <p:nvPicPr>
          <p:cNvPr id="9" name="Picture 8" descr="grafico_paradoja_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03520" cy="31005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5. MÓDULO DE TUNING (ESTUDIANTE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Optimización de Consultas SQL y Análisis de Planes (EXPLAIN)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Anatomía de EXPLAIN ANALYZE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EXPLAIN (ANALYZE, BUFFERS): La herramienta suprema del DBA.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1. Execution Time: Tiempo real consumido por la CPU y el motor.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2. Buffers read vs shared hit: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  • Hit: Datos encontrados en caché RAM (rápido).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    • Read: Datos que tuvieron que leerse físicamente del disco (lento, I/O bound).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3. Sequential Scan (Seq Scan): Escaneo de la tabla completa línea por línea (O(N)). Inviable en grandes volúmenes.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4. Index Scan / Bitmap Index Scan: Búsqueda mediante árbol B-Tree logarítmico (O(log N)).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Estrategias de Indexación Demostradas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1. B-Tree Unique Index: Búsqueda puntual por DNI sobre 100k registros.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2. Índice Compuesto Multicolumna: Filtrado por cuenta y ordenamiento por fecha (evita el costo del algoritmo SORT).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3. Índice Funcional / Basado en Expresiones: Superación del anti-patrón de funciones en el WHERE (ej. LOWER(email)).</a:t>
            </a:r>
          </a:p>
          <a:p>
            <a:pPr>
              <a:spcAft>
                <a:spcPts val="800"/>
              </a:spcAft>
              <a:defRPr sz="1300">
                <a:solidFill>
                  <a:srgbClr val="F5F7FA"/>
                </a:solidFill>
              </a:defRPr>
            </a:pPr>
            <a:r>
              <a:t>•  4. Monitoreo Global con pg_stat_statements: Identificar el 'Top 10' de consultas más costosas del sistema.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5.1 DEMOSTRACIÓN EN VIVO (ESTUDIANTE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Resultados en Vivo: De Seq Scan a Index Scan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Casos Demostrados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Caso 1 (DNI):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  • Antes: 13.71 ms | 1,301 bloques leídos.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  • Después: 0.12 ms | 4 bloques leídos (&gt;110x más rápido).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Caso 2 (Compuesto cuenta_id + fecha):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  • Elimina la etapa de ordenamiento en memoria ('Sort Method: quicksort').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Caso 3 (LOWER email):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  • La función LOWER() anulaba el índice normal.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  • El índice funcional idx_clientes_email_lower resolvió el cuello de botella.</a:t>
            </a:r>
          </a:p>
        </p:txBody>
      </p:sp>
      <p:pic>
        <p:nvPicPr>
          <p:cNvPr id="9" name="Picture 8" descr="grafico_optimizacion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03520" cy="31005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6. METODOLOGÍA DE PRESENTACIÓN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Cronograma de Exposición Colaborativa (18 Minutos)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2918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Minuto 0 a 6: Estudiante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Explica la arquitectura Docker.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Presenta el esquema relacional con 600,000 filas.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Corre backup_full.ps1 en vivo.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Simula el desastre (DROP TABLE).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Restaura los datos con disaster_and_restore.ps1 y muestra el éxito.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2918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Minuto 6 a 12: Estudiante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Lanza el generador de tráfico: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  traffic_generator.py.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Muestra el Dashboard de Grafana en tiempo real.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Explica el flujo Promtail -&gt; Loki.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Demuestra la paradoja del crecimiento de logs vs tablas con el modo growth.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832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91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Minuto 12 a 18: Estudiante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Abre DBeaver/psql con optimization_demo.sql.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Ejecuta la consulta sin índice y analiza los Buffers y Seq Scan.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Crea el índice en vivo.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Muestra la caída de tiempo a 0.1ms.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Consulta pg_stat_statements.</a:t>
            </a:r>
          </a:p>
          <a:p>
            <a:pPr>
              <a:spcAft>
                <a:spcPts val="800"/>
              </a:spcAft>
              <a:defRPr sz="1250">
                <a:solidFill>
                  <a:srgbClr val="F5F7FA"/>
                </a:solidFill>
              </a:defRPr>
            </a:pPr>
            <a:r>
              <a:t>•  • Conclusiones finales.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D6A0"/>
                </a:solidFill>
              </a:defRPr>
            </a:pPr>
            <a:r>
              <a:t>7. 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F7FA"/>
                </a:solidFill>
              </a:defRPr>
            </a:pPr>
            <a:r>
              <a:t>Lecciones Clave para la Gestión de Datos Empresariales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Conclusiones Principales del Proyecto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5F7FA"/>
                </a:solidFill>
              </a:defRPr>
            </a:pPr>
            <a:r>
              <a:t>•  1. Resiliencia Moderna: Los backups ya no son fotos estáticas; se sustentan en el archivado continuo de transacciones (WAL / LSN) para garantizar RPO cercanos a cero.</a:t>
            </a:r>
          </a:p>
          <a:p>
            <a:pPr>
              <a:spcAft>
                <a:spcPts val="800"/>
              </a:spcAft>
              <a:defRPr sz="1400">
                <a:solidFill>
                  <a:srgbClr val="F5F7FA"/>
                </a:solidFill>
              </a:defRPr>
            </a:pPr>
            <a:r>
              <a:t>•  2. Aislamiento de Observabilidad: Los logs de auditoría y telemetría crecen exponencialmente más rápido que las tablas de datos. Deben desacoplarse a servidores especializados (Loki) para proteger el I/O y el disco transaccional.</a:t>
            </a:r>
          </a:p>
          <a:p>
            <a:pPr>
              <a:spcAft>
                <a:spcPts val="800"/>
              </a:spcAft>
              <a:defRPr sz="1400">
                <a:solidFill>
                  <a:srgbClr val="F5F7FA"/>
                </a:solidFill>
              </a:defRPr>
            </a:pPr>
            <a:r>
              <a:t>•  3. El Ciclo Virtuoso de Optimización: La telemetría detecta cuándo y dónde sufre la base de datos; el plan de ejecución (EXPLAIN ANALYZE) revela la causa raíz; y la indexación adecuada multiplica el rendimiento por órdenes de magnitud.</a:t>
            </a:r>
          </a:p>
          <a:p>
            <a:pPr>
              <a:spcAft>
                <a:spcPts val="800"/>
              </a:spcAft>
              <a:defRPr sz="1400">
                <a:solidFill>
                  <a:srgbClr val="F5F7FA"/>
                </a:solidFill>
              </a:defRPr>
            </a:pPr>
            <a:r>
              <a:t>•  4. Eficiencia de Costos: Mediante contenedores Docker e Infraestructura como Código, es posible implementar arquitecturas de observabilidad y recuperación de nivel corporativo a costo $0.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