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0A5FA"/>
                </a:solidFill>
                <a:latin typeface="Segoe UI"/>
              </a:defRPr>
            </a:pPr>
            <a:r>
              <a:t>ALMACENAMIENTO Y MINERÍA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8FAFC"/>
                </a:solidFill>
                <a:latin typeface="Segoe UI"/>
              </a:defRPr>
            </a:pPr>
            <a:r>
              <a:t>Backups, Telemetría y Optimización SQL</a:t>
            </a:r>
          </a:p>
          <a:p>
            <a:pPr>
              <a:spcBef>
                <a:spcPts val="800"/>
              </a:spcBef>
              <a:defRPr sz="1600">
                <a:solidFill>
                  <a:srgbClr val="94A3B8"/>
                </a:solidFill>
                <a:latin typeface="Segoe UI"/>
              </a:defRPr>
            </a:pPr>
            <a:r>
              <a:t>Arquitectura Desacoplada, Resiliencia y Análisis de Rendimiento en Bases de Datos Relacionales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114800"/>
            <a:ext cx="5120640" cy="1920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4279392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Marco del Proyecto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466344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Nivel Académico: </a:t>
            </a:r>
            <a:r>
              <a:rPr b="0" sz="1200">
                <a:solidFill>
                  <a:srgbClr val="94A3B8"/>
                </a:solidFill>
                <a:latin typeface="Segoe UI"/>
              </a:rPr>
              <a:t>8vo Ciclo de Ingeniería de Sistemas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Paradigma: </a:t>
            </a:r>
            <a:r>
              <a:rPr b="0" sz="1200">
                <a:solidFill>
                  <a:srgbClr val="94A3B8"/>
                </a:solidFill>
                <a:latin typeface="Segoe UI"/>
              </a:rPr>
              <a:t>Infraestructura como Código (IaC) con Docker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Motor: </a:t>
            </a:r>
            <a:r>
              <a:rPr b="0" sz="1200">
                <a:solidFill>
                  <a:srgbClr val="94A3B8"/>
                </a:solidFill>
                <a:latin typeface="Segoe UI"/>
              </a:rPr>
              <a:t>PostgreSQL 16 Enterprise con Telemetría Desacoplada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114800"/>
            <a:ext cx="5212080" cy="1920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427939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Equipo de Investigación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466344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Integrantes: </a:t>
            </a:r>
            <a:r>
              <a:rPr b="0" sz="1200">
                <a:solidFill>
                  <a:srgbClr val="94A3B8"/>
                </a:solidFill>
                <a:latin typeface="Segoe UI"/>
              </a:rPr>
              <a:t>Zaid San Lucas y equipo de proyecto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Áreas de Demostración: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Respaldo continuo, observabilidad y afinamiento SQL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Entorno de Pruebas: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Contenedores aislados y reproducibles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CONTEXTO Y DESAFÍOS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¿Por qué fallan las bases de datos en producción?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1. Pérdida Crítica de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Riesgo Operativo: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Fallas físicas de disco, corrupción o sentencias destructivas accidentales.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Limitación Tradicional: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Los backups lógicos diarios dejan ventanas de pérdida de varias horas.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Objetivo: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Alcanzar un RPO cercano a cero mediante la captura continua de transacciones.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0876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67335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2. Saturación por Logs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10312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La Paradoja: </a:t>
            </a:r>
            <a:r>
              <a:rPr b="0" sz="1200">
                <a:solidFill>
                  <a:srgbClr val="94A3B8"/>
                </a:solidFill>
                <a:latin typeface="Segoe UI"/>
              </a:rPr>
              <a:t>Cada sentencia genera registros de auditoría y WAL; los logs crecen más rápido que las tablas.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Competencia de I/O: </a:t>
            </a:r>
            <a:r>
              <a:rPr b="0" sz="1200">
                <a:solidFill>
                  <a:srgbClr val="94A3B8"/>
                </a:solidFill>
                <a:latin typeface="Segoe UI"/>
              </a:rPr>
              <a:t>Almacenar logs en el mismo disco transaccional penaliza las consultas de clientes.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Objetivo: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Desacoplar la ingesta hacia un servidor de observabilidad dedicado.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08760"/>
            <a:ext cx="33832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7335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3. Latencia en Consultas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10312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Degradación: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Tablas con cientos de miles de filas colapsan en memoria ante escaneos secuenciales.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Anti-patrones: </a:t>
            </a:r>
            <a:r>
              <a:rPr b="0" sz="1200">
                <a:solidFill>
                  <a:srgbClr val="94A3B8"/>
                </a:solidFill>
                <a:latin typeface="Segoe UI"/>
              </a:rPr>
              <a:t>Uso inadecuado de funciones en cláusulas WHERE que invalidan índices estándar.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Objetivo: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Reducir latencias de 15ms a 0.1ms mediante árboles B-Tree y tuning asistido.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INFRAESTRUCTURA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Arquitectura Desacoplada en Contenedores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Topología de Servicios Aislados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db-primary (PostgreSQL 16): </a:t>
            </a:r>
            <a:r>
              <a:rPr b="0" sz="1200">
                <a:solidFill>
                  <a:srgbClr val="94A3B8"/>
                </a:solidFill>
                <a:latin typeface="Segoe UI"/>
              </a:rPr>
              <a:t>Motor transaccional central con 600,000 registros sintéticos y logging activo.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promtail-agent: </a:t>
            </a:r>
            <a:r>
              <a:rPr b="0" sz="1200">
                <a:solidFill>
                  <a:srgbClr val="94A3B8"/>
                </a:solidFill>
                <a:latin typeface="Segoe UI"/>
              </a:rPr>
              <a:t>Agente de recolección en streaming que lee logs continuos sin impactar el motor.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loki-server: </a:t>
            </a:r>
            <a:r>
              <a:rPr b="0" sz="1200">
                <a:solidFill>
                  <a:srgbClr val="94A3B8"/>
                </a:solidFill>
                <a:latin typeface="Segoe UI"/>
              </a:rPr>
              <a:t>Servidor desacoplado especializado en la indexación comprimida de telemetría.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grafana-dashboard: </a:t>
            </a:r>
            <a:r>
              <a:rPr b="0" sz="1200">
                <a:solidFill>
                  <a:srgbClr val="94A3B8"/>
                </a:solidFill>
                <a:latin typeface="Segoe UI"/>
              </a:rPr>
              <a:t>Capa visual para monitoreo de QPS, errores y rendimiento en tiempo real.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backup_storage: </a:t>
            </a:r>
            <a:r>
              <a:rPr b="0" sz="1200">
                <a:solidFill>
                  <a:srgbClr val="94A3B8"/>
                </a:solidFill>
                <a:latin typeface="Segoe UI"/>
              </a:rPr>
              <a:t>Volumen de almacenamiento aislado para dumps completos y archivos WAL.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Criterios de Diseño Arquitectónico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Aislamiento de I/O: </a:t>
            </a:r>
            <a:r>
              <a:rPr b="0" sz="1200">
                <a:solidFill>
                  <a:srgbClr val="94A3B8"/>
                </a:solidFill>
                <a:latin typeface="Segoe UI"/>
              </a:rPr>
              <a:t>Las consultas de análisis de logs no consumen el ancho de banda del almacenamiento transaccional.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Análisis Post-Mortem: </a:t>
            </a:r>
            <a:r>
              <a:rPr b="0" sz="1200">
                <a:solidFill>
                  <a:srgbClr val="94A3B8"/>
                </a:solidFill>
                <a:latin typeface="Segoe UI"/>
              </a:rPr>
              <a:t>Si la base de datos se detiene o sufre corrupción, los registros de auditoría siguen accesibles en Loki.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Cero Presupuesto: </a:t>
            </a:r>
            <a:r>
              <a:rPr b="0" sz="1200">
                <a:solidFill>
                  <a:srgbClr val="94A3B8"/>
                </a:solidFill>
                <a:latin typeface="Segoe UI"/>
              </a:rPr>
              <a:t>Implementación 100% libre de costos de nube, totalmente reproducible en cualquier equipo con Docker.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Consistencia: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Configuraciones predefinidas en código evitan inconsistencias entre entornos de desarrollo.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MECANISMOS DE RECUPERACIÓN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Taxonomía de Backups: Totales, Incrementales y Diferenciales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02920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Fundamentos de Respaldo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572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Backup Total (Full):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Copia íntegra de estructuras y datos. Base obligatoria para cualquier plan de continuidad.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Backup Incremental: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Almacena únicamente las modificaciones ocurridas desde el respaldo previo más reciente.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Backup Diferencial: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Acumula todas las variaciones producidas desde el último Backup Total registrado.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Métrica RPO: </a:t>
            </a:r>
            <a:r>
              <a:rPr b="0" sz="1200">
                <a:solidFill>
                  <a:srgbClr val="94A3B8"/>
                </a:solidFill>
                <a:latin typeface="Segoe UI"/>
              </a:rPr>
              <a:t>Recovery Point Objective; volumen máximo de transacciones que la organización tolera perder.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Métrica RTO: </a:t>
            </a:r>
            <a:r>
              <a:rPr b="0" sz="1200">
                <a:solidFill>
                  <a:srgbClr val="94A3B8"/>
                </a:solidFill>
                <a:latin typeface="Segoe UI"/>
              </a:rPr>
              <a:t>Recovery Time Objective; plazo máximo admisible para restablecer la operatividad normal.</a:t>
            </a:r>
          </a:p>
        </p:txBody>
      </p:sp>
      <p:pic>
        <p:nvPicPr>
          <p:cNvPr id="8" name="Picture 7" descr="grafico_tipos_backu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5394960" cy="33718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MECANISMOS DE RECUPERACIÓN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Criterios de Selección: ¿Cuándo Utilizar Cada Método?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Escenarios Recomendados por Tipo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Cuándo usar Backup Total: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Ventanas semanales o mensuales de bajo tráfico (ej. domingos en la noche); indispensable antes de migraciones de esquema mayores.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Cuándo usar Backup Diferencial: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Ejecución diaria nocturna entre semana; recomendado cuando se exige un RTO muy rápido, ya que solo se restaura el Full + último diferencial.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Cuándo usar Backup Incremental: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Ejecución horaria o continua mediante WAL archiving; ideal para sistemas transaccionales críticos donde el RPO debe ser menor a 5 minutos.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Enfoque Híbrido Estándar: </a:t>
            </a:r>
            <a:r>
              <a:rPr b="0" sz="1200">
                <a:solidFill>
                  <a:srgbClr val="94A3B8"/>
                </a:solidFill>
                <a:latin typeface="Segoe UI"/>
              </a:rPr>
              <a:t>Full semanal + Diferencial diario + Archivado continuo de WALs en tiempo real.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Impacto en Recursos y Recuperación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Sobrecarga de I/O en Producción: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Backup Total satura lecturas en disco; el Incremental lee únicamente bloques modificados o registros WAL.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Espacio de Almacenamiento: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Total requiere terabytes de destino; el Incremental minimiza el uso de disco al capturar solo deltas.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Riesgo en la Restauración: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Si un segmento incremental de la cadena se corrompe, los incrementales posteriores se vuelven inválidos.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Velocidad de Restauración (RTO): </a:t>
            </a:r>
            <a:r>
              <a:rPr b="0" sz="1200">
                <a:solidFill>
                  <a:srgbClr val="94A3B8"/>
                </a:solidFill>
                <a:latin typeface="Segoe UI"/>
              </a:rPr>
              <a:t>Diferencial restaura en 2 pasos; Incremental exige aplicar Full + Inc1 + Inc2 + ... + IncN.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ARQUITECTURA INTERNA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Anatomía del WAL: Convención Hexadecimal e Inspección Interna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Convención Hexadecimal de 24 Caracteres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Estructura Física: </a:t>
            </a:r>
            <a:r>
              <a:rPr b="0" sz="1200">
                <a:solidFill>
                  <a:srgbClr val="94A3B8"/>
                </a:solidFill>
                <a:latin typeface="Segoe UI"/>
              </a:rPr>
              <a:t>Cada fichero WAL tiene un tamaño inmutable de exactamente 16.0 MB (ej. 00000001000000000000001D).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Timeline ID (Primeros 8 dígitos): </a:t>
            </a:r>
            <a:r>
              <a:rPr b="0" sz="1200">
                <a:solidFill>
                  <a:srgbClr val="94A3B8"/>
                </a:solidFill>
                <a:latin typeface="Segoe UI"/>
              </a:rPr>
              <a:t>00000001 identifica la línea temporal del motor; se incrementa si una réplica es promovida a nodo maestro.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Log ID (Dígitos 9 al 16): </a:t>
            </a:r>
            <a:r>
              <a:rPr b="0" sz="1200">
                <a:solidFill>
                  <a:srgbClr val="94A3B8"/>
                </a:solidFill>
                <a:latin typeface="Segoe UI"/>
              </a:rPr>
              <a:t>00000000 indica el número de serie del ciclo lógico de registros de transacciones.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Segmento LSN (Últimos 8 dígitos): </a:t>
            </a:r>
            <a:r>
              <a:rPr b="0" sz="1200">
                <a:solidFill>
                  <a:srgbClr val="94A3B8"/>
                </a:solidFill>
                <a:latin typeface="Segoe UI"/>
              </a:rPr>
              <a:t>0000001D representa el número correlativo del segmento dentro del ciclo activo.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Principio WAL Inviolable: </a:t>
            </a:r>
            <a:r>
              <a:rPr b="0" sz="1200">
                <a:solidFill>
                  <a:srgbClr val="94A3B8"/>
                </a:solidFill>
                <a:latin typeface="Segoe UI"/>
              </a:rPr>
              <a:t>Ningún registro se persiste en las tablas de datos sin antes haberse volcado en el WAL.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Decodificación con pg_waldump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Utilidad Oficial: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pg_waldump permite leer e inspeccionar los binarios WAL sin necesidad de iniciar PostgreSQL.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Resource Manager (rmgr): </a:t>
            </a:r>
            <a:r>
              <a:rPr b="0" sz="1200">
                <a:solidFill>
                  <a:srgbClr val="94A3B8"/>
                </a:solidFill>
                <a:latin typeface="Segoe UI"/>
              </a:rPr>
              <a:t>Identifica el componente del motor afectado (Heap = datos de tabla, Btree = índices, Transaction = commits).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Log Sequence Number (LSN): </a:t>
            </a:r>
            <a:r>
              <a:rPr b="0" sz="1200">
                <a:solidFill>
                  <a:srgbClr val="94A3B8"/>
                </a:solidFill>
                <a:latin typeface="Segoe UI"/>
              </a:rPr>
              <a:t>Puntero exacto en bytes (ej. 0/01000028) que marca la posición secuencial de la operación.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Transaction ID (tx): </a:t>
            </a:r>
            <a:r>
              <a:rPr b="0" sz="1200">
                <a:solidFill>
                  <a:srgbClr val="94A3B8"/>
                </a:solidFill>
                <a:latin typeface="Segoe UI"/>
              </a:rPr>
              <a:t>Número de transacción único asociado para rastrear commits, aborts y rollbacks.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Comando en Laboratorio: </a:t>
            </a:r>
            <a:r>
              <a:rPr b="0" sz="1200">
                <a:solidFill>
                  <a:srgbClr val="94A3B8"/>
                </a:solidFill>
                <a:latin typeface="Segoe UI"/>
              </a:rPr>
              <a:t>docker exec db-primary pg_waldump -n 8 /backup_storage/wal_archive/&lt;archivo_wal&gt;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OPERACIONES Y HERRAMIENTAS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Comandos Nativos de Producción: Parámetros y Banderas Críticas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Generación de Respaldo (pg_dump y WAL)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Comando Base: </a:t>
            </a:r>
            <a:r>
              <a:rPr b="0" sz="1200">
                <a:solidFill>
                  <a:srgbClr val="94A3B8"/>
                </a:solidFill>
                <a:latin typeface="Segoe UI"/>
              </a:rPr>
              <a:t>pg_dump -U admin_db -d banco_telemetria -F c -b -v -f &lt;destino.dump&gt;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Bandera -F c (Custom Format):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Comprime con zlib (13 MB para 600k filas) y genera metadatos que permiten restauraciones selectivas o multi-hilo (-j).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Bandera -b (Blobs): </a:t>
            </a:r>
            <a:r>
              <a:rPr b="0" sz="1200">
                <a:solidFill>
                  <a:srgbClr val="94A3B8"/>
                </a:solidFill>
                <a:latin typeface="Segoe UI"/>
              </a:rPr>
              <a:t>Garantiza la inclusión de objetos binarios grandes sin pérdidas estructurales.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Rotación Manual de WAL: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SELECT pg_switch_wal(); fuerza el cierre del segmento actual para su archivado inmediato.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archive_command: </a:t>
            </a:r>
            <a:r>
              <a:rPr b="0" sz="1200">
                <a:solidFill>
                  <a:srgbClr val="94A3B8"/>
                </a:solidFill>
                <a:latin typeface="Segoe UI"/>
              </a:rPr>
              <a:t>Parámetro en postgresql.conf que copia automáticamente cada segmento WAL cerrado al almacenamiento aislado.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Procedimiento de Restauración (pg_restore)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Comando de Restauración: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pg_restore -U admin_db -d banco_telemetria --clean --if-exists -v &lt;archivo.dump&gt;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Bandera --clean: </a:t>
            </a:r>
            <a:r>
              <a:rPr b="0" sz="1200">
                <a:solidFill>
                  <a:srgbClr val="94A3B8"/>
                </a:solidFill>
                <a:latin typeface="Segoe UI"/>
              </a:rPr>
              <a:t>Emite sentencias DROP sobre tablas existentes antes de recrear las estructuras, evitando conflictos.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Bandera --if-exists: </a:t>
            </a:r>
            <a:r>
              <a:rPr b="0" sz="1200">
                <a:solidFill>
                  <a:srgbClr val="94A3B8"/>
                </a:solidFill>
                <a:latin typeface="Segoe UI"/>
              </a:rPr>
              <a:t>Evita que el proceso aborte con error si un objeto a borrar no existía previamente.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Bandera --no-owner: </a:t>
            </a:r>
            <a:r>
              <a:rPr b="0" sz="1200">
                <a:solidFill>
                  <a:srgbClr val="94A3B8"/>
                </a:solidFill>
                <a:latin typeface="Segoe UI"/>
              </a:rPr>
              <a:t>Omite comandos de asignación de propiedad original para permitir restaurar entre diferentes usuarios o entornos.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Consistencia Transaccional: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Utiliza transacciones snapshot con nivel REPEATABLE READ para asegurar coherencia sin bloquear operaciones.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VALIDACIÓN PRÁCTICA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Simulación de Pérdida de Datos y Restauración de Contingencia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Procedimiento de la Prueba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Fase 1 (Respaldo Base): </a:t>
            </a:r>
            <a:r>
              <a:rPr b="0" sz="1200">
                <a:solidFill>
                  <a:srgbClr val="94A3B8"/>
                </a:solidFill>
                <a:latin typeface="Segoe UI"/>
              </a:rPr>
              <a:t>Generación de dump binario comprimido de 13 MB mediante pg_dump en 3.9 segundos.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Fase 2 (Transacción Crítica): </a:t>
            </a:r>
            <a:r>
              <a:rPr b="0" sz="1200">
                <a:solidFill>
                  <a:srgbClr val="94A3B8"/>
                </a:solidFill>
                <a:latin typeface="Segoe UI"/>
              </a:rPr>
              <a:t>Registro de movimientos financieros de última hora posteriores al backup base.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Fase 3 (Desastre Simulado):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Ejecución de sentencia destructiva accidental: DROP TABLE transacciones, cuentas, clientes CASCADE.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Fase 4 (Verificación de Pérdida):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Consulta de catálogo donde se constata la indisponibilidad total de la información.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Fase 5 (Restauración Exitosa):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Ejecución de procedimiento de contingencia recuperando las 600,000 filas en 5 segundos.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Mecanismo Point-In-Time Recovery (PITR)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Recuperación a Punto Específico: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Combina el último Backup Total con el 'replay' secuencial de los segmentos WAL archivados.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recovery_target_time: </a:t>
            </a:r>
            <a:r>
              <a:rPr b="0" sz="1200">
                <a:solidFill>
                  <a:srgbClr val="94A3B8"/>
                </a:solidFill>
                <a:latin typeface="Segoe UI"/>
              </a:rPr>
              <a:t>Parámetro que permite detener la reproducción de logs en la hora exacta previa al error humano.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recovery_target_lsn: </a:t>
            </a:r>
            <a:r>
              <a:rPr b="0" sz="1200">
                <a:solidFill>
                  <a:srgbClr val="94A3B8"/>
                </a:solidFill>
                <a:latin typeface="Segoe UI"/>
              </a:rPr>
              <a:t>Detención en una posición de bytes exacta de LSN para máxima precisión forense.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Resiliencia Total: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Garantiza que la empresa no pierda las transacciones del día entre el último backup y el desastre.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OBSERVABILIDAD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Telemetría de Consultas y Almacenamiento Centralizado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Dimensiones de la Telemetría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Más allá del Hardware: </a:t>
            </a:r>
            <a:r>
              <a:rPr b="0" sz="1200">
                <a:solidFill>
                  <a:srgbClr val="94A3B8"/>
                </a:solidFill>
                <a:latin typeface="Segoe UI"/>
              </a:rPr>
              <a:t>No se limita al uso de CPU o memoria; audita cada sentencia ejecutada por clientes y aplicaciones.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Throughput (QPS): </a:t>
            </a:r>
            <a:r>
              <a:rPr b="0" sz="1200">
                <a:solidFill>
                  <a:srgbClr val="94A3B8"/>
                </a:solidFill>
                <a:latin typeface="Segoe UI"/>
              </a:rPr>
              <a:t>Mide el volumen de operaciones por segundo y detecta picos de demanda inusuales.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Composición DML: </a:t>
            </a:r>
            <a:r>
              <a:rPr b="0" sz="1200">
                <a:solidFill>
                  <a:srgbClr val="94A3B8"/>
                </a:solidFill>
                <a:latin typeface="Segoe UI"/>
              </a:rPr>
              <a:t>Distribución entre consultas de lectura (SELECT) y operaciones de escritura (INSERT, UPDATE).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Alertas Tempranas: </a:t>
            </a:r>
            <a:r>
              <a:rPr b="0" sz="1200">
                <a:solidFill>
                  <a:srgbClr val="94A3B8"/>
                </a:solidFill>
                <a:latin typeface="Segoe UI"/>
              </a:rPr>
              <a:t>Identificación inmediata de bloqueos (locks), transacciones canceladas y rollbacks.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Eficiencia de Grafana Loki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Indexación por Metadatos: </a:t>
            </a:r>
            <a:r>
              <a:rPr b="0" sz="1200">
                <a:solidFill>
                  <a:srgbClr val="94A3B8"/>
                </a:solidFill>
                <a:latin typeface="Segoe UI"/>
              </a:rPr>
              <a:t>A diferencia de motores convencionales, Loki solo indexa etiquetas; reduce el consumo de RAM hasta un 90%.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Consumo No Invasivo: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Promtail recopila logs en streaming sin abrir bloqueos de tabla ni interferir en sesiones activas.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Visibilidad Central: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Dashboards dinámicos permiten correlacionar latencias de consultas con eventos del motor.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Retención Independiente: </a:t>
            </a:r>
            <a:r>
              <a:rPr b="0" sz="1200">
                <a:solidFill>
                  <a:srgbClr val="94A3B8"/>
                </a:solidFill>
                <a:latin typeface="Segoe UI"/>
              </a:rPr>
              <a:t>Políticas de archivado de logs sin comprometer el ciclo de vida de los datos transaccionales.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DIAGNÓSTICO EXPERIMENTAL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Comportamiento del Almacenamiento: Datos vs Logs Transaccionales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02920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Hallazgos de la Simulación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572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Condición de Prueba: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Ejecución continua de 500 sentencias UPDATE consecutivas sobre una única fila de saldo.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Resultado en Tablas: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tamaño físico de la tabla en disco se mantiene invariable (~12.1 MB).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Resultado en Logs: </a:t>
            </a:r>
            <a:r>
              <a:rPr b="0" sz="1200">
                <a:solidFill>
                  <a:srgbClr val="94A3B8"/>
                </a:solidFill>
                <a:latin typeface="Segoe UI"/>
              </a:rPr>
              <a:t>Se emitieron 500 registros WAL de 16 MB y cientos de entradas de auditoría hacia Loki.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Conclusión Crítica: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almacenamiento de logs crece en función de la actividad operativa, no del número de filas.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Principio Rector: </a:t>
            </a:r>
            <a:r>
              <a:rPr b="0" sz="1200">
                <a:solidFill>
                  <a:srgbClr val="94A3B8"/>
                </a:solidFill>
                <a:latin typeface="Segoe UI"/>
              </a:rPr>
              <a:t>La separación de discos e instancias de log es indispensable para evitar incidentes por disco lleno.</a:t>
            </a:r>
          </a:p>
        </p:txBody>
      </p:sp>
      <p:pic>
        <p:nvPicPr>
          <p:cNvPr id="8" name="Picture 7" descr="grafico_paradoja_lo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5394960" cy="33718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AFINAMIENTO DE RENDIMIENTO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Fundamentos de EXPLAIN ANALYZE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¿Qué es EXPLAIN ANALYZE?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Propósito: </a:t>
            </a:r>
            <a:r>
              <a:rPr b="0" sz="1200">
                <a:solidFill>
                  <a:srgbClr val="94A3B8"/>
                </a:solidFill>
                <a:latin typeface="Segoe UI"/>
              </a:rPr>
              <a:t>Es el comando que le pide a PostgreSQL que ejecute la consulta y revele exactamente cómo la procesó internamente paso a paso.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Tiempo de Ejecución: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Muestra el tiempo real (en milisegundos) que el motor tardó en procesar la consulta completa.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Buffers (Hit vs Read): </a:t>
            </a:r>
            <a:r>
              <a:rPr b="0" sz="1200">
                <a:solidFill>
                  <a:srgbClr val="94A3B8"/>
                </a:solidFill>
                <a:latin typeface="Segoe UI"/>
              </a:rPr>
              <a:t>Hit = la información se leyó directamente desde la RAM (rápido). Read = se tuvo que ir al disco físico a buscarla (lento, cuello de botella).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Sintaxis Utilizada: </a:t>
            </a:r>
            <a:r>
              <a:rPr b="0" sz="1200">
                <a:solidFill>
                  <a:srgbClr val="94A3B8"/>
                </a:solidFill>
                <a:latin typeface="Segoe UI"/>
              </a:rPr>
              <a:t>EXPLAIN (ANALYZE, BUFFERS, FORMAT TEXT) seguido de la consulta SQL que se desea inspeccionar.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Tipos de Escaneo que Revela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Sequential Scan (Seq Scan): </a:t>
            </a:r>
            <a:r>
              <a:rPr b="0" sz="1200">
                <a:solidFill>
                  <a:srgbClr val="94A3B8"/>
                </a:solidFill>
                <a:latin typeface="Segoe UI"/>
              </a:rPr>
              <a:t>Recorre TODAS las filas de la tabla una por una hasta encontrar las que coinciden. Es lento en tablas grandes con búsquedas selectivas.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Index Scan: </a:t>
            </a:r>
            <a:r>
              <a:rPr b="0" sz="1200">
                <a:solidFill>
                  <a:srgbClr val="94A3B8"/>
                </a:solidFill>
                <a:latin typeface="Segoe UI"/>
              </a:rPr>
              <a:t>Usa un índice para ir directamente a las filas que necesita sin leer toda la tabla. Complejidad logarítmica O(log N).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Bitmap Heap Scan: </a:t>
            </a:r>
            <a:r>
              <a:rPr b="0" sz="1200">
                <a:solidFill>
                  <a:srgbClr val="94A3B8"/>
                </a:solidFill>
                <a:latin typeface="Segoe UI"/>
              </a:rPr>
              <a:t>Estrategia intermedia: primero construye un mapa de páginas válidas usando índices y luego lee solo esas páginas del disco.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Nodo Sort: </a:t>
            </a:r>
            <a:r>
              <a:rPr b="0" sz="1200">
                <a:solidFill>
                  <a:srgbClr val="94A3B8"/>
                </a:solidFill>
                <a:latin typeface="Segoe UI"/>
              </a:rPr>
              <a:t>Aparece cuando PostgreSQL necesita ordenar datos en memoria. Un buen índice compuesto puede eliminarlo por completo.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TÉCNICAS DE INDEXACIÓN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¿Qué hace cada índice y cuándo conviene usarlo?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Índice B-Tree e Índice Compuesto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B-Tree (Árbol Balanceado): </a:t>
            </a:r>
            <a:r>
              <a:rPr b="0" sz="1200">
                <a:solidFill>
                  <a:srgbClr val="94A3B8"/>
                </a:solidFill>
                <a:latin typeface="Segoe UI"/>
              </a:rPr>
              <a:t>Organiza los valores en una estructura de árbol ordenada. Cada búsqueda descarta la mitad de los datos en cada paso, por eso es logarítmico.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¿Cuándo usarlo?: </a:t>
            </a:r>
            <a:r>
              <a:rPr b="0" sz="1200">
                <a:solidFill>
                  <a:srgbClr val="94A3B8"/>
                </a:solidFill>
                <a:latin typeface="Segoe UI"/>
              </a:rPr>
              <a:t>Cuando se buscan valores exactos (=), rangos (BETWEEN, &lt;, &gt;) o se necesita ordenar resultados (ORDER BY). Es el más versátil y el índice por defecto.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Índice Compuesto: </a:t>
            </a:r>
            <a:r>
              <a:rPr b="0" sz="1200">
                <a:solidFill>
                  <a:srgbClr val="94A3B8"/>
                </a:solidFill>
                <a:latin typeface="Segoe UI"/>
              </a:rPr>
              <a:t>Un B-Tree que indexa dos o más columnas juntas. El orden de las columnas importa: la primera filtra y la segunda ordena.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¿Cuándo usarlo?: </a:t>
            </a:r>
            <a:r>
              <a:rPr b="0" sz="1200">
                <a:solidFill>
                  <a:srgbClr val="94A3B8"/>
                </a:solidFill>
                <a:latin typeface="Segoe UI"/>
              </a:rPr>
              <a:t>Cuando las consultas siempre filtran por una columna y ordenan por otra, como obtener las últimas transacciones de una cuenta específica.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Índice Hash y Bitmap Index Scan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Hash: </a:t>
            </a:r>
            <a:r>
              <a:rPr b="0" sz="1200">
                <a:solidFill>
                  <a:srgbClr val="94A3B8"/>
                </a:solidFill>
                <a:latin typeface="Segoe UI"/>
              </a:rPr>
              <a:t>Aplica una función de dispersión que convierte el valor en una posición fija. La búsqueda es directa sin recorrer una estructura de árbol.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¿Cuándo usarlo?: </a:t>
            </a:r>
            <a:r>
              <a:rPr b="0" sz="1200">
                <a:solidFill>
                  <a:srgbClr val="94A3B8"/>
                </a:solidFill>
                <a:latin typeface="Segoe UI"/>
              </a:rPr>
              <a:t>Exclusivamente para igualdad exacta (=). No funciona con rangos ni con ORDER BY. Ideal para columnas de tipo categórico (estados, tipos).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Bitmap Index Scan: </a:t>
            </a:r>
            <a:r>
              <a:rPr b="0" sz="1200">
                <a:solidFill>
                  <a:srgbClr val="94A3B8"/>
                </a:solidFill>
                <a:latin typeface="Segoe UI"/>
              </a:rPr>
              <a:t>No es un índice que se crea, sino una estrategia del planificador. Combina varios índices individuales mediante operaciones AND/OR sobre mapas de bits.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¿Cuándo aparece?: </a:t>
            </a:r>
            <a:r>
              <a:rPr b="0" sz="1200">
                <a:solidFill>
                  <a:srgbClr val="94A3B8"/>
                </a:solidFill>
                <a:latin typeface="Segoe UI"/>
              </a:rPr>
              <a:t>Cuando la consulta tiene múltiples condiciones en el WHERE (ej. dni = X OR estado = Y). PostgreSQL fusiona los mapas de bits de cada índice.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APLICACIÓN PRÁCTICA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Índice B-Tree e Índice Compuesto sobre la Base de Datos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Caso 1: B-Tree sobre DNI (Tabla Clientes)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Problema: </a:t>
            </a:r>
            <a:r>
              <a:rPr b="0" sz="1200">
                <a:solidFill>
                  <a:srgbClr val="94A3B8"/>
                </a:solidFill>
                <a:latin typeface="Segoe UI"/>
              </a:rPr>
              <a:t>Buscar un cliente por su DNI obliga al motor a recorrer las 100,000 filas de la tabla completa (Sequential Scan).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Solución Aplicada: </a:t>
            </a:r>
            <a:r>
              <a:rPr b="0" sz="1200">
                <a:solidFill>
                  <a:srgbClr val="94A3B8"/>
                </a:solidFill>
                <a:latin typeface="Segoe UI"/>
              </a:rPr>
              <a:t>CREATE INDEX idx_clientes_dni_btree ON clientes USING btree (dni);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Qué Observar en EXPLAIN: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plan de ejecución cambia de Seq Scan a Index Scan. El número de buffers leídos baja drásticamente.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Demostración: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Ejecutar en vivo el Caso 1 de optimizacion/guia_indices.sql y comparar los resultados antes y después.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Caso 2: Compuesto sobre Transacciones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Problema: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Consultar las últimas transacciones de una cuenta genera un Seq Scan sobre toda la tabla más un Sort en memoria para ordenar por fecha.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Solución Aplicada: </a:t>
            </a:r>
            <a:r>
              <a:rPr b="0" sz="1200">
                <a:solidFill>
                  <a:srgbClr val="94A3B8"/>
                </a:solidFill>
                <a:latin typeface="Segoe UI"/>
              </a:rPr>
              <a:t>CREATE INDEX idx_transacciones_cuenta_fecha ON transacciones USING btree (cuenta_id, fecha_hora DESC);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Qué Observar en EXPLAIN: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nodo Sort desaparece completamente porque el índice ya entrega los datos en el orden solicitado.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Demostración: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Ejecutar en vivo el Caso 2 de optimizacion/guia_indices.sql y verificar la eliminación del Sort.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APLICACIÓN PRÁCTICA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Índice Hash y Bitmap Index Scan sobre la Base de Datos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Caso 3: Hash sobre Tipo de Cuenta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Problema: </a:t>
            </a:r>
            <a:r>
              <a:rPr b="0" sz="1200">
                <a:solidFill>
                  <a:srgbClr val="94A3B8"/>
                </a:solidFill>
                <a:latin typeface="Segoe UI"/>
              </a:rPr>
              <a:t>Filtrar cuentas por tipo (AHORROS, CORRIENTE) recorre toda la tabla porque no existe un índice sobre esa columna.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Solución Aplicada: </a:t>
            </a:r>
            <a:r>
              <a:rPr b="0" sz="1200">
                <a:solidFill>
                  <a:srgbClr val="94A3B8"/>
                </a:solidFill>
                <a:latin typeface="Segoe UI"/>
              </a:rPr>
              <a:t>CREATE INDEX idx_cuentas_tipo_hash ON cuentas USING hash (tipo_cuenta);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Qué Observar en EXPLAIN: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Con igualdad (=) el motor usa el índice Hash. Con rango (&gt;) lo ignora y vuelve a Seq Scan, demostrando su limitación.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Demostración: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Ejecutar en vivo el Caso 3 de optimizacion/guia_indices.sql con igualdad y luego con rango.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Caso 4: Bitmap Index Scan Automático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Problema: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Consultas con múltiples condiciones (WHERE dni = X OR estado = Y) no pueden resolverse con un solo índice.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Solución Observada: </a:t>
            </a:r>
            <a:r>
              <a:rPr b="0" sz="1200">
                <a:solidFill>
                  <a:srgbClr val="94A3B8"/>
                </a:solidFill>
                <a:latin typeface="Segoe UI"/>
              </a:rPr>
              <a:t>PostgreSQL combina automáticamente los índices idx_clientes_dni_btree e idx_clientes_estado mediante BitmapOr o BitmapAnd.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Qué Observar en EXPLAIN: </a:t>
            </a:r>
            <a:r>
              <a:rPr b="0" sz="1200">
                <a:solidFill>
                  <a:srgbClr val="94A3B8"/>
                </a:solidFill>
                <a:latin typeface="Segoe UI"/>
              </a:rPr>
              <a:t>Aparecen nodos BitmapOr/BitmapAnd que fusionan mapas de bits de cada índice y luego un Bitmap Heap Scan lee solo las páginas necesarias.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Demostración: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Ejecutar en vivo el Caso 4 de optimizacion/guia_indices.sql con condiciones OR y AND.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METODOLOGÍA EXPERIMENTAL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Flujo Integrado de Demostración del Laboratorio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Fase 1: Línea Base y Respaldo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Poblado Inicial: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Generación masiva de 600,000 registros sintéticos en PostgreSQL mediante funciones de memoria.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Respaldo Completo: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Ejecución de snapshot inicial en formato comprimido dentro del almacenamiento aislado.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Recuperación PITR: </a:t>
            </a:r>
            <a:r>
              <a:rPr b="0" sz="1200">
                <a:solidFill>
                  <a:srgbClr val="94A3B8"/>
                </a:solidFill>
                <a:latin typeface="Segoe UI"/>
              </a:rPr>
              <a:t>Simulación de incidente destructivo y validación de consistencia transaccional tras restaurar.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0876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67335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Fase 2: Telemetría y Carga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10312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Inyección Concurrente: </a:t>
            </a:r>
            <a:r>
              <a:rPr b="0" sz="1200">
                <a:solidFill>
                  <a:srgbClr val="94A3B8"/>
                </a:solidFill>
                <a:latin typeface="Segoe UI"/>
              </a:rPr>
              <a:t>Simulación de tráfico transaccional continuo (lecturas, transferencias y rollbacks).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Transmisión en Streaming: </a:t>
            </a:r>
            <a:r>
              <a:rPr b="0" sz="1200">
                <a:solidFill>
                  <a:srgbClr val="94A3B8"/>
                </a:solidFill>
                <a:latin typeface="Segoe UI"/>
              </a:rPr>
              <a:t>Captura en tiempo real de eventos con Promtail hacia el repositorio de Loki.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Monitoreo en Vivo: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Inspección de curvas de QPS, patrones de escritura y registro de errores en Grafana.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08760"/>
            <a:ext cx="33832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7335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Fase 3: Diagnóstico y Tuning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10312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Detección de Cuellos: </a:t>
            </a:r>
            <a:r>
              <a:rPr b="0" sz="1200">
                <a:solidFill>
                  <a:srgbClr val="94A3B8"/>
                </a:solidFill>
                <a:latin typeface="Segoe UI"/>
              </a:rPr>
              <a:t>Identificación de sentencias costosas reportadas por telemetría y pg_stat_statements.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Análisis de Planes: </a:t>
            </a:r>
            <a:r>
              <a:rPr b="0" sz="1200">
                <a:solidFill>
                  <a:srgbClr val="94A3B8"/>
                </a:solidFill>
                <a:latin typeface="Segoe UI"/>
              </a:rPr>
              <a:t>Evaluación de costos y lecturas de bloques de disco mediante EXPLAIN ANALYZE.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Verificación de Índices: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Constatación inmediata de la caída drástica en la latencia tras crear las estructuras.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SÍNTESIS EJECUTIVA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Conclusiones y Recomendaciones de Arquitectura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6984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Principios Fundamentales para Entornos Empresariales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3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300">
                <a:solidFill>
                  <a:srgbClr val="E2E8F0"/>
                </a:solidFill>
                <a:latin typeface="Segoe UI"/>
              </a:rPr>
              <a:t>1. Continuidad Operativa: </a:t>
            </a:r>
            <a:r>
              <a:rPr b="0" sz="1300">
                <a:solidFill>
                  <a:srgbClr val="94A3B8"/>
                </a:solidFill>
                <a:latin typeface="Segoe UI"/>
              </a:rPr>
              <a:t>Los respaldos estáticos son insuficientes para sistemas de alta disponibilidad; el archivado continuo de transacciones (WAL) es indispensable para minimizar el RPO ante contingencias críticas.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3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300">
                <a:solidFill>
                  <a:srgbClr val="E2E8F0"/>
                </a:solidFill>
                <a:latin typeface="Segoe UI"/>
              </a:rPr>
              <a:t>2. Aislamiento de Observabilidad: </a:t>
            </a:r>
            <a:r>
              <a:rPr b="0" sz="1300">
                <a:solidFill>
                  <a:srgbClr val="94A3B8"/>
                </a:solidFill>
                <a:latin typeface="Segoe UI"/>
              </a:rPr>
              <a:t>La telemetría genera un volumen de datos superior al del propio negocio; su desacoplamiento a servidores dedicados (Loki) salvaguarda el rendimiento de disco y la CPU de producción.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3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300">
                <a:solidFill>
                  <a:srgbClr val="E2E8F0"/>
                </a:solidFill>
                <a:latin typeface="Segoe UI"/>
              </a:rPr>
              <a:t>3. Diagnóstico Científico: </a:t>
            </a:r>
            <a:r>
              <a:rPr b="0" sz="1300">
                <a:solidFill>
                  <a:srgbClr val="94A3B8"/>
                </a:solidFill>
                <a:latin typeface="Segoe UI"/>
              </a:rPr>
              <a:t>La optimización de bases de datos requiere evidencia cuantitativa; la telemetría señala dónde ocurren las demoras, y el plan de ejecución revela las causas a nivel de bloques de almacenamiento.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3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300">
                <a:solidFill>
                  <a:srgbClr val="E2E8F0"/>
                </a:solidFill>
                <a:latin typeface="Segoe UI"/>
              </a:rPr>
              <a:t>4. Viabilidad con Código Abierto: </a:t>
            </a:r>
            <a:r>
              <a:rPr b="0" sz="1300">
                <a:solidFill>
                  <a:srgbClr val="94A3B8"/>
                </a:solidFill>
                <a:latin typeface="Segoe UI"/>
              </a:rPr>
              <a:t>Mediante contenedores y herramientas open source (PostgreSQL, Loki, Grafana), es factible desplegar una plataforma de resiliencia y monitoreo de nivel corporativo con costo de infraestructura nulo.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